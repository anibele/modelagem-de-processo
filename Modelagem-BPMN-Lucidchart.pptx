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3" r:id="rId6"/>
    <p:sldId id="267" r:id="rId7"/>
    <p:sldId id="269" r:id="rId8"/>
    <p:sldId id="268" r:id="rId9"/>
    <p:sldId id="261" r:id="rId10"/>
    <p:sldId id="266" r:id="rId11"/>
    <p:sldId id="262" r:id="rId12"/>
    <p:sldId id="270" r:id="rId13"/>
    <p:sldId id="271" r:id="rId14"/>
    <p:sldId id="272" r:id="rId15"/>
    <p:sldId id="264" r:id="rId16"/>
    <p:sldId id="265" r:id="rId17"/>
    <p:sldId id="273" r:id="rId18"/>
    <p:sldId id="274" r:id="rId19"/>
    <p:sldId id="275" r:id="rId20"/>
  </p:sldIdLst>
  <p:sldSz cx="12192000" cy="6858000"/>
  <p:notesSz cx="6858000" cy="12192000"/>
  <p:embeddedFontLst>
    <p:embeddedFont>
      <p:font typeface="Libre Baskerville" panose="02000000000000000000" pitchFamily="2" charset="0"/>
      <p:regular r:id="rId22"/>
      <p:bold r:id="rId23"/>
      <p: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Bold" panose="020B0806030504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6F5"/>
    <a:srgbClr val="EAE8F3"/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73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A6F6-93DF-682F-9847-D0BB3BE6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32C5F-6289-0614-39F0-DDB737016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1D6FD-D17D-3C23-83EA-A8C0D49B2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03B75-51A4-0BCF-4A69-6F76E724A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56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249F-3B17-F49E-0D0D-06BAD583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25E11-33FE-0B6D-5ED4-883AF003F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654AF-EA2D-C4DC-C56B-215D85641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781BE-7DC2-04C8-5093-E18B7C1CD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53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1066-0C6A-B124-A8EA-11F33B14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53B44-99D6-4C17-7286-781D72FAA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73CE1-98BD-5489-0BCE-C4A5B5F35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53DD-9FA2-03E9-7680-E391CE298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19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D5B2-D260-358F-7494-50C01E6D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7CDD6-BA92-7559-37C2-F86C2565E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9943B-B1CB-12D3-FFB8-42982642C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3003F-BDDE-860A-CDB8-A450410FB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42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ACCD-CB82-CE25-D31F-3A12BDCE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B780-5D31-1D3D-57B2-7911B788A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7537B-D0F1-3406-7A9D-B6F9A45EF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62EFB-D0F4-AD8E-5391-F7E747929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70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C805A-808C-CD1F-5EE2-BA421596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103D-6DD7-1D4F-E1B9-818AE0B61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8780E-6C70-058F-3B7F-BC51017FD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5B79D-4711-6C3A-A342-BB2FF19E0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25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E307-3DC8-6C55-FB7D-2C139DDD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96BF0-BB5E-CD1F-EE09-29BA8329C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A93DC-1D52-6A93-83C2-00C3FF4BD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8157-3991-FAAF-387C-13FCBED6B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8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BE82-206E-0DFE-6CEC-B417E95E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C2E4A-E964-C62C-3315-3DBB8A6CB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0F958-DC80-2C79-45F1-655AE16D8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9ED1-3DB5-6533-14E8-3D7B8D306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87A5-BCF2-5971-3B5D-F4FAC8A8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C3C39-5ABA-A75E-3255-BB7C46277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4E350-EDE9-CA57-F295-17A6E08C5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092A5-3DD4-AE04-6D0C-A4B3D13E6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45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CBF4-80BB-C943-5CD4-AE175E7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81C68-8CAC-F6A6-246F-108FC9218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27C15-1F4B-4B00-7AA8-E481A8E48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78CC9-6EBA-87AB-AFE6-E0CD735B49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40" y="713550"/>
            <a:ext cx="3134670" cy="31347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241" y="723619"/>
            <a:ext cx="3251119" cy="3134749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3630F7D-909F-5181-7D93-CCE924874B8A}"/>
              </a:ext>
            </a:extLst>
          </p:cNvPr>
          <p:cNvGrpSpPr/>
          <p:nvPr/>
        </p:nvGrpSpPr>
        <p:grpSpPr>
          <a:xfrm>
            <a:off x="661475" y="4068961"/>
            <a:ext cx="10868745" cy="570805"/>
            <a:chOff x="661475" y="4803577"/>
            <a:chExt cx="10868745" cy="570805"/>
          </a:xfrm>
        </p:grpSpPr>
        <p:sp>
          <p:nvSpPr>
            <p:cNvPr id="4" name="Text 0"/>
            <p:cNvSpPr/>
            <p:nvPr/>
          </p:nvSpPr>
          <p:spPr>
            <a:xfrm>
              <a:off x="661475" y="4803577"/>
              <a:ext cx="10868745" cy="3876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2400" noProof="0" dirty="0">
                  <a:solidFill>
                    <a:srgbClr val="403CCF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Ferramentas de Modelagem BPMN: Uma Análise do </a:t>
              </a:r>
              <a:r>
                <a:rPr lang="pt-BR" sz="2400" noProof="0" dirty="0" err="1">
                  <a:solidFill>
                    <a:srgbClr val="403CCF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Lucidchart</a:t>
              </a:r>
              <a:endParaRPr lang="pt-BR" sz="2400" noProof="0" dirty="0"/>
            </a:p>
          </p:txBody>
        </p:sp>
        <p:sp>
          <p:nvSpPr>
            <p:cNvPr id="5" name="Shape 1"/>
            <p:cNvSpPr/>
            <p:nvPr/>
          </p:nvSpPr>
          <p:spPr>
            <a:xfrm>
              <a:off x="661475" y="5361682"/>
              <a:ext cx="10868745" cy="12700"/>
            </a:xfrm>
            <a:prstGeom prst="roundRect">
              <a:avLst>
                <a:gd name="adj" fmla="val 49999"/>
              </a:avLst>
            </a:prstGeom>
            <a:solidFill>
              <a:srgbClr val="49495A">
                <a:alpha val="50000"/>
              </a:srgbClr>
            </a:solidFill>
            <a:ln/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F976B83-6E49-859C-08B9-69068B6641FF}"/>
              </a:ext>
            </a:extLst>
          </p:cNvPr>
          <p:cNvGrpSpPr/>
          <p:nvPr/>
        </p:nvGrpSpPr>
        <p:grpSpPr>
          <a:xfrm>
            <a:off x="1316905" y="4810223"/>
            <a:ext cx="10875095" cy="688181"/>
            <a:chOff x="661475" y="5593556"/>
            <a:chExt cx="10875095" cy="688181"/>
          </a:xfrm>
        </p:grpSpPr>
        <p:sp>
          <p:nvSpPr>
            <p:cNvPr id="6" name="Text 2"/>
            <p:cNvSpPr/>
            <p:nvPr/>
          </p:nvSpPr>
          <p:spPr>
            <a:xfrm>
              <a:off x="661475" y="5593556"/>
              <a:ext cx="5283068" cy="6881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7000"/>
                </a:lnSpc>
                <a:spcAft>
                  <a:spcPts val="650"/>
                </a:spcAft>
                <a:buNone/>
              </a:pPr>
              <a:r>
                <a:rPr lang="pt-BR" sz="1600" b="1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 Bold" pitchFamily="34" charset="-122"/>
                  <a:cs typeface="Arial" panose="020B0604020202020204" pitchFamily="34" charset="0"/>
                </a:rPr>
                <a:t>Alunos:</a:t>
              </a:r>
              <a:r>
                <a:rPr lang="pt-BR" sz="1600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 Gustavo Anibele, Igor Ribas e Giuliano Trevisan</a:t>
              </a:r>
              <a:endParaRPr lang="pt-BR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17000"/>
                </a:lnSpc>
                <a:buNone/>
              </a:pPr>
              <a:r>
                <a:rPr lang="pt-BR" sz="1600" b="1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 Bold" pitchFamily="34" charset="-122"/>
                  <a:cs typeface="Arial" panose="020B0604020202020204" pitchFamily="34" charset="0"/>
                </a:rPr>
                <a:t>Disciplina:</a:t>
              </a:r>
              <a:r>
                <a:rPr lang="pt-BR" sz="1600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 Modelagem de Processos</a:t>
              </a:r>
              <a:endParaRPr lang="pt-BR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6253502" y="5593556"/>
              <a:ext cx="5283068" cy="6881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7000"/>
                </a:lnSpc>
                <a:spcAft>
                  <a:spcPts val="650"/>
                </a:spcAft>
                <a:buNone/>
              </a:pPr>
              <a:r>
                <a:rPr lang="pt-BR" sz="1600" b="1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 Bold" pitchFamily="34" charset="-122"/>
                  <a:cs typeface="Arial" panose="020B0604020202020204" pitchFamily="34" charset="0"/>
                </a:rPr>
                <a:t>Curso:</a:t>
              </a:r>
              <a:r>
                <a:rPr lang="pt-BR" sz="1600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 Sistemas de Informação</a:t>
              </a:r>
              <a:endParaRPr lang="pt-BR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17000"/>
                </a:lnSpc>
                <a:buNone/>
              </a:pPr>
              <a:r>
                <a:rPr lang="pt-BR" sz="1600" b="1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 Bold" pitchFamily="34" charset="-122"/>
                  <a:cs typeface="Arial" panose="020B0604020202020204" pitchFamily="34" charset="0"/>
                </a:rPr>
                <a:t>Professor:</a:t>
              </a:r>
              <a:r>
                <a:rPr lang="pt-BR" sz="1600" noProof="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 Herysson Figueiredo</a:t>
              </a:r>
              <a:endParaRPr lang="pt-BR" sz="16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2022F7E4-5122-0E75-63A2-9C20B126C5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1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2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Visão Geral do </a:t>
            </a:r>
            <a:r>
              <a:rPr lang="pt-BR" sz="3250" noProof="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Lucidchart</a:t>
            </a:r>
            <a:endParaRPr lang="pt-BR" sz="3250" noProof="0" dirty="0"/>
          </a:p>
        </p:txBody>
      </p:sp>
      <p:sp>
        <p:nvSpPr>
          <p:cNvPr id="3" name="Shape 1"/>
          <p:cNvSpPr/>
          <p:nvPr/>
        </p:nvSpPr>
        <p:spPr>
          <a:xfrm>
            <a:off x="542415" y="1428948"/>
            <a:ext cx="4343490" cy="4764782"/>
          </a:xfrm>
          <a:prstGeom prst="roundRect">
            <a:avLst>
              <a:gd name="adj" fmla="val 571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07710" y="1594247"/>
            <a:ext cx="40129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Identificação da Plataforma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707710" y="2018010"/>
            <a:ext cx="4012901" cy="294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pt-BR" sz="13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Desenvolvedor:</a:t>
            </a:r>
            <a:r>
              <a:rPr lang="pt-BR" sz="13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pt-BR" sz="1300" noProof="0" dirty="0" err="1"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</a:t>
            </a:r>
            <a:r>
              <a:rPr lang="pt-BR" sz="13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Software, empresa especializada em soluções de visualização colaborativa.</a:t>
            </a:r>
            <a:endParaRPr lang="pt-BR" sz="1300" noProof="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pt-BR" sz="13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Natureza:</a:t>
            </a:r>
            <a:r>
              <a:rPr lang="pt-BR" sz="13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Plataforma 100% baseada em nuvem, com suporte a colaboração simultânea em tempo real, sem necessidade de instalação local.</a:t>
            </a:r>
            <a:endParaRPr lang="pt-BR" sz="1300" noProof="0" dirty="0"/>
          </a:p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Aplicabilidade:</a:t>
            </a:r>
            <a:r>
              <a:rPr lang="pt-BR" sz="13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Adequada tanto para ambientes acadêmicos quanto para contextos corporativos de diferentes portes, desde startups até grandes empresas.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176609" y="1594247"/>
            <a:ext cx="6359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Características Principais</a:t>
            </a:r>
            <a:endParaRPr lang="pt-BR" sz="160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9" y="2046883"/>
            <a:ext cx="248041" cy="2480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3964" y="2038747"/>
            <a:ext cx="58225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Interface intuitiva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acessível para usuários de diferentes níveis de experiência em modelagem de processos.</a:t>
            </a:r>
            <a:endParaRPr lang="pt-BR" sz="1300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9" y="2906812"/>
            <a:ext cx="248041" cy="248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3964" y="2898676"/>
            <a:ext cx="58225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Suporte nativo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múltiplas notações de modelagem, com destaque para a conformidade completa com o padrão BPMN 2.0.</a:t>
            </a:r>
            <a:endParaRPr lang="pt-BR" sz="130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9" y="3766741"/>
            <a:ext cx="248041" cy="248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3964" y="3758605"/>
            <a:ext cx="58225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Colaboração em tempo real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permitindo trabalho simultâneo de múltiplos usuários no mesmo diagrama.</a:t>
            </a:r>
            <a:endParaRPr lang="pt-BR" sz="13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9" y="4626670"/>
            <a:ext cx="248041" cy="248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13964" y="4618534"/>
            <a:ext cx="58225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Integração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 ferramentas corporativas e acadêmicas amplamente utilizadas no mercado.</a:t>
            </a:r>
            <a:endParaRPr lang="pt-BR" sz="13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9" y="5486598"/>
            <a:ext cx="248041" cy="248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13964" y="5478462"/>
            <a:ext cx="58225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Disponibilidade web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eliminando a necessidade de instalação e manutenção de software local.</a:t>
            </a:r>
            <a:endParaRPr lang="pt-BR" sz="1300" noProof="0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9F5DB3E-B79E-CD10-7F3B-51F362D79F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8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2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Simbologia e Suporte à Notação BPMN</a:t>
            </a:r>
            <a:endParaRPr lang="pt-BR" sz="325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374279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r>
              <a:rPr lang="pt-BR" sz="130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oferece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suporte nativo e completo à notação BPMN 2.0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padrão internacional para modelagem de processos estabelecido pelo </a:t>
            </a:r>
            <a:r>
              <a:rPr lang="pt-BR" sz="130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Management </a:t>
            </a:r>
            <a:r>
              <a:rPr lang="pt-BR" sz="130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(OMG). As bibliotecas de formas padronizadas disponíveis cobrem todos os elementos essenciais da notação:</a:t>
            </a:r>
            <a:endParaRPr lang="pt-BR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661475" y="2354163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26769" y="251946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Eventos</a:t>
            </a:r>
            <a:endParaRPr lang="pt-BR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826769" y="2877145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Eventos de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início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intermediários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de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fim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processos, claramente diferenciados por espessura e preenchimento de borda, conforme o padrão BPMN 2.0.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6178495" y="2354163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343789" y="251946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Atividades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6343789" y="2877145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Tarefas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subprocessos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processos chamados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 representações visuais distintas que indicam o tipo de execução e responsabilidade.</a:t>
            </a:r>
            <a:endParaRPr lang="pt-B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61475" y="4001591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826769" y="416689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Gateways</a:t>
            </a:r>
            <a:endParaRPr lang="pt-B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826769" y="4524573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Elementos de decisão, paralelização e sincronização de fluxos: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exclusivo (XOR)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inclusivo (OR)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paralelo (AND)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entre outros.</a:t>
            </a:r>
            <a:endParaRPr lang="pt-B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6178495" y="4001591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343789" y="416689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Artefatos</a:t>
            </a:r>
            <a:endParaRPr lang="pt-B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343789" y="4524573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Anotações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grupos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objetos de dados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enriquecimento semântico do diagrama e maior clareza comunicacional.</a:t>
            </a:r>
            <a:endParaRPr lang="pt-B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661475" y="5405140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644852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61171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noProof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formas estão pré-configuradas e prontas para uso, eliminando a necessidade de customização manual de símbolos e garantindo conformidade com o padrão BPMN, o que acelera significativamente o processo de modelagem.</a:t>
            </a:r>
            <a:endParaRPr lang="pt-BR" sz="1300" noProof="0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B84CF5C-E7DB-2859-8FCE-02D0F7BFE2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92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9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 e Usabilidade</a:t>
            </a:r>
            <a:endParaRPr lang="pt-BR" sz="290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342926"/>
            <a:ext cx="581437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Paradigma de Interação</a:t>
            </a:r>
            <a:endParaRPr lang="pt-BR" sz="1450" noProof="0" dirty="0"/>
          </a:p>
        </p:txBody>
      </p:sp>
      <p:sp>
        <p:nvSpPr>
          <p:cNvPr id="4" name="Text 2"/>
          <p:cNvSpPr/>
          <p:nvPr/>
        </p:nvSpPr>
        <p:spPr>
          <a:xfrm>
            <a:off x="661475" y="1709341"/>
            <a:ext cx="5814371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r>
              <a:rPr lang="pt-BR" sz="115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adota o paradigma </a:t>
            </a:r>
            <a:r>
              <a:rPr lang="pt-BR" sz="1150" b="1" i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drag-and-</a:t>
            </a:r>
            <a:r>
              <a:rPr lang="pt-BR" sz="1150" b="1" i="1" noProof="0" dirty="0" err="1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drop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(arrastar e soltar) como principal mecanismo de construção de diagramas, permitindo a composição rápida de fluxos sem curva de aprendizado acentuada. Essa escolha de design reduz significativamente a barreira de entrada para usuários sem experiência prévia em modelagem de processos.</a:t>
            </a:r>
            <a:endParaRPr lang="pt-BR" sz="1150" noProof="0" dirty="0"/>
          </a:p>
        </p:txBody>
      </p:sp>
      <p:sp>
        <p:nvSpPr>
          <p:cNvPr id="5" name="Text 3"/>
          <p:cNvSpPr/>
          <p:nvPr/>
        </p:nvSpPr>
        <p:spPr>
          <a:xfrm>
            <a:off x="661475" y="2974380"/>
            <a:ext cx="581437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Recursos de Facilidade de Uso</a:t>
            </a:r>
            <a:endParaRPr lang="pt-BR" sz="1450" noProof="0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BD793A3-381B-4735-2680-2D46A8A8E1D2}"/>
              </a:ext>
            </a:extLst>
          </p:cNvPr>
          <p:cNvGrpSpPr/>
          <p:nvPr/>
        </p:nvGrpSpPr>
        <p:grpSpPr>
          <a:xfrm>
            <a:off x="655529" y="3265091"/>
            <a:ext cx="5345574" cy="2758381"/>
            <a:chOff x="1130272" y="3405882"/>
            <a:chExt cx="5345574" cy="2758381"/>
          </a:xfrm>
        </p:grpSpPr>
        <p:sp>
          <p:nvSpPr>
            <p:cNvPr id="7" name="Text 5"/>
            <p:cNvSpPr/>
            <p:nvPr/>
          </p:nvSpPr>
          <p:spPr>
            <a:xfrm>
              <a:off x="1130272" y="3405882"/>
              <a:ext cx="5345574" cy="4524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pt-BR" sz="1150" b="1" noProof="0" dirty="0">
                  <a:solidFill>
                    <a:srgbClr val="49495A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Alinhamento automático</a:t>
              </a:r>
              <a:r>
                <a:rPr lang="pt-BR" sz="1150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de elementos para manutenção da estética visual e legibilidade do diagrama.</a:t>
              </a:r>
              <a:endParaRPr lang="pt-BR" sz="1150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30272" y="4174530"/>
              <a:ext cx="5345574" cy="4524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pt-BR" sz="1150" b="1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Grade de desenho (</a:t>
              </a:r>
              <a:r>
                <a:rPr lang="pt-BR" sz="1150" b="1" i="1" noProof="0" dirty="0">
                  <a:solidFill>
                    <a:srgbClr val="49495A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grid</a:t>
              </a:r>
              <a:r>
                <a:rPr lang="pt-BR" sz="1150" b="1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)</a:t>
              </a:r>
              <a:r>
                <a:rPr lang="pt-BR" sz="1150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para posicionamento preciso de componentes no </a:t>
              </a:r>
              <a:r>
                <a:rPr lang="pt-BR" sz="1150" noProof="0" dirty="0" err="1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canvas</a:t>
              </a:r>
              <a:r>
                <a:rPr lang="pt-BR" sz="1150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.</a:t>
              </a:r>
              <a:endParaRPr lang="pt-BR" sz="1150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130272" y="4943177"/>
              <a:ext cx="5345574" cy="4524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pt-BR" sz="1150" b="1" noProof="0" dirty="0">
                  <a:solidFill>
                    <a:srgbClr val="49495A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Customização flexível</a:t>
              </a:r>
              <a:r>
                <a:rPr lang="pt-BR" sz="1150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de cores, estilos e propriedades de formas, sem comprometer a conformidade com o padrão.</a:t>
              </a:r>
              <a:endParaRPr lang="pt-BR" sz="1150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130272" y="5711825"/>
              <a:ext cx="5345574" cy="4524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pt-BR" sz="1150" b="1" noProof="0" dirty="0">
                  <a:solidFill>
                    <a:srgbClr val="49495A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Zoom e navegação fluida</a:t>
              </a:r>
              <a:r>
                <a:rPr lang="pt-BR" sz="1150" noProof="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em diagramas de qualquer tamanho e complexidade.</a:t>
              </a:r>
              <a:endParaRPr lang="pt-BR" sz="1150" noProof="0" dirty="0"/>
            </a:p>
          </p:txBody>
        </p:sp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FEC3A629-14EC-CF15-F345-EF4191FB3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C065AC2-E4A4-4344-13DF-B9A8F338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09" y="1637276"/>
            <a:ext cx="4904509" cy="36175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8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2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Exemplo Prático de Processo Mapeado</a:t>
            </a:r>
            <a:endParaRPr lang="pt-BR" sz="325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51993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Demonstração Aplicada</a:t>
            </a:r>
            <a:endParaRPr lang="pt-BR" sz="1600" noProof="0" dirty="0"/>
          </a:p>
        </p:txBody>
      </p:sp>
      <p:sp>
        <p:nvSpPr>
          <p:cNvPr id="4" name="Text 2"/>
          <p:cNvSpPr/>
          <p:nvPr/>
        </p:nvSpPr>
        <p:spPr>
          <a:xfrm>
            <a:off x="661475" y="1943695"/>
            <a:ext cx="5232666" cy="572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Apresentação de um processo real modelado pelo grupo utilizando o </a:t>
            </a:r>
            <a:r>
              <a:rPr lang="pt-BR" sz="130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 aplicação da notação BPMN 2.0. </a:t>
            </a:r>
            <a:endParaRPr lang="pt-B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6303904" y="151993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Contribuições da Ferramenta no Processo</a:t>
            </a:r>
            <a:endParaRPr lang="pt-BR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6303904" y="1964432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6365914" y="199543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9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pt-BR" sz="1950" noProof="0" dirty="0"/>
          </a:p>
        </p:txBody>
      </p:sp>
      <p:sp>
        <p:nvSpPr>
          <p:cNvPr id="11" name="Text 8"/>
          <p:cNvSpPr/>
          <p:nvPr/>
        </p:nvSpPr>
        <p:spPr>
          <a:xfrm>
            <a:off x="6841259" y="2018109"/>
            <a:ext cx="46953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Facilidade na construção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fluxo através da interface intuitiva de </a:t>
            </a:r>
            <a:r>
              <a:rPr lang="pt-BR" sz="1300" i="1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drag-and-</a:t>
            </a:r>
            <a:r>
              <a:rPr lang="pt-BR" sz="1300" i="1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sem necessidade de conhecimento técnico avançado.</a:t>
            </a:r>
            <a:endParaRPr lang="pt-BR" sz="1300" noProof="0" dirty="0"/>
          </a:p>
        </p:txBody>
      </p:sp>
      <p:sp>
        <p:nvSpPr>
          <p:cNvPr id="12" name="Shape 9"/>
          <p:cNvSpPr/>
          <p:nvPr/>
        </p:nvSpPr>
        <p:spPr>
          <a:xfrm>
            <a:off x="6303904" y="314265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6365914" y="317366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9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pt-BR" sz="1950" noProof="0" dirty="0"/>
          </a:p>
        </p:txBody>
      </p:sp>
      <p:sp>
        <p:nvSpPr>
          <p:cNvPr id="14" name="Text 11"/>
          <p:cNvSpPr/>
          <p:nvPr/>
        </p:nvSpPr>
        <p:spPr>
          <a:xfrm>
            <a:off x="6841259" y="3196332"/>
            <a:ext cx="46953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Clareza visual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obtida pela aplicação rigorosa da notação BPMN 2.0, garantindo comunicação precisa e não ambígua do processo.</a:t>
            </a:r>
            <a:endParaRPr lang="pt-BR" sz="1300" noProof="0" dirty="0"/>
          </a:p>
        </p:txBody>
      </p:sp>
      <p:sp>
        <p:nvSpPr>
          <p:cNvPr id="15" name="Shape 12"/>
          <p:cNvSpPr/>
          <p:nvPr/>
        </p:nvSpPr>
        <p:spPr>
          <a:xfrm>
            <a:off x="6303904" y="432087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6365914" y="435188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9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pt-BR" sz="1950" noProof="0" dirty="0"/>
          </a:p>
        </p:txBody>
      </p:sp>
      <p:sp>
        <p:nvSpPr>
          <p:cNvPr id="17" name="Text 14"/>
          <p:cNvSpPr/>
          <p:nvPr/>
        </p:nvSpPr>
        <p:spPr>
          <a:xfrm>
            <a:off x="6841259" y="4374555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Iteração rápida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realização de ajustes sem necessidade de reconstrução completa do diagrama.</a:t>
            </a:r>
            <a:endParaRPr lang="pt-BR" sz="1300" noProof="0" dirty="0"/>
          </a:p>
        </p:txBody>
      </p:sp>
      <p:sp>
        <p:nvSpPr>
          <p:cNvPr id="18" name="Shape 15"/>
          <p:cNvSpPr/>
          <p:nvPr/>
        </p:nvSpPr>
        <p:spPr>
          <a:xfrm>
            <a:off x="6303904" y="5234484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6365914" y="526548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9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pt-BR" sz="1950" noProof="0" dirty="0"/>
          </a:p>
        </p:txBody>
      </p:sp>
      <p:sp>
        <p:nvSpPr>
          <p:cNvPr id="20" name="Text 17"/>
          <p:cNvSpPr/>
          <p:nvPr/>
        </p:nvSpPr>
        <p:spPr>
          <a:xfrm>
            <a:off x="6841259" y="5288161"/>
            <a:ext cx="46953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3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Documentação automática</a:t>
            </a:r>
            <a:r>
              <a:rPr lang="pt-BR" sz="13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processo com símbolos padronizados, resultando em diagrama profissional e compreensível por diferentes públicos.</a:t>
            </a:r>
            <a:endParaRPr lang="pt-BR" sz="1300" noProof="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943525D-66E3-BCBC-F750-1F0330D282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03BCBA0-77C4-7E1F-2430-5A75DB2C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79" y="2516385"/>
            <a:ext cx="5242666" cy="3867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004A-706F-259B-43C1-619C3FBB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6114CD-39C4-16C6-1CD9-7F6E74500520}"/>
              </a:ext>
            </a:extLst>
          </p:cNvPr>
          <p:cNvSpPr/>
          <p:nvPr/>
        </p:nvSpPr>
        <p:spPr>
          <a:xfrm>
            <a:off x="661475" y="54292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9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Modelos prontos para uso – Galeria de Modelos</a:t>
            </a:r>
            <a:endParaRPr lang="pt-BR" sz="2900" noProof="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2076E08-9EB7-2804-3A7B-DFFE802E61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3ACB628-0C34-6D32-9C9F-BF4E70AE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472" y="1265487"/>
            <a:ext cx="9806749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0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2CB1-64C0-7BDF-624C-3B883EDA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28FD15-55CB-B737-20CC-FB08B11D1F99}"/>
              </a:ext>
            </a:extLst>
          </p:cNvPr>
          <p:cNvSpPr/>
          <p:nvPr/>
        </p:nvSpPr>
        <p:spPr>
          <a:xfrm>
            <a:off x="661475" y="54292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BR" sz="29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Modelos prontos para uso – Galeria de Modelos</a:t>
            </a:r>
            <a:endParaRPr lang="pt-BR" sz="2900" noProof="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0887BC9-25FC-DEB1-2C80-D21FEC2A17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96A83C7-8F12-BE44-C4E4-E97B88C5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053" y="1256146"/>
            <a:ext cx="9309587" cy="458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8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6792-BED5-A144-505E-83E49F67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27D57E-7699-ACF6-DC3C-7F7D2A6DD3B3}"/>
              </a:ext>
            </a:extLst>
          </p:cNvPr>
          <p:cNvSpPr/>
          <p:nvPr/>
        </p:nvSpPr>
        <p:spPr>
          <a:xfrm>
            <a:off x="661475" y="54292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BR" sz="29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Modelos prontos para uso – Galeria de Modelos</a:t>
            </a:r>
            <a:endParaRPr lang="pt-BR" sz="2900" noProof="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70DCAE7-374C-A8D4-B9AC-53EC659CDF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E5D7AD-9CFB-8233-D021-3F64C2D50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9" y="1236374"/>
            <a:ext cx="9462501" cy="507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6930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1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Integração de Inteligência Artificial</a:t>
            </a:r>
            <a:endParaRPr lang="pt-BR" sz="315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327944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r>
              <a:rPr lang="pt-BR" sz="125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incorpora recursos de </a:t>
            </a:r>
            <a:r>
              <a:rPr lang="pt-BR" sz="12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inteligência artificial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representam um avanço significativo na automação de tarefas de modelagem, posicionando a ferramenta na vanguarda do mercado de gestão de processos.</a:t>
            </a:r>
            <a:endParaRPr lang="pt-BR" sz="125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7096"/>
            <a:ext cx="400536" cy="4005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01615"/>
            <a:ext cx="3493603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Geração Automática de Diagramas</a:t>
            </a:r>
            <a:endParaRPr lang="pt-BR" sz="1550" noProof="0" dirty="0"/>
          </a:p>
        </p:txBody>
      </p:sp>
      <p:sp>
        <p:nvSpPr>
          <p:cNvPr id="6" name="Text 3"/>
          <p:cNvSpPr/>
          <p:nvPr/>
        </p:nvSpPr>
        <p:spPr>
          <a:xfrm>
            <a:off x="661475" y="3195340"/>
            <a:ext cx="3493603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é capaz de criar estruturas de processos completas a partir de </a:t>
            </a:r>
            <a:r>
              <a:rPr lang="pt-BR" sz="12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descrições textuais em linguagem natural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reduzindo substancialmente o trabalho manual de construção inicial do diagrama.</a:t>
            </a:r>
            <a:endParaRPr lang="pt-BR" sz="125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046" y="2007096"/>
            <a:ext cx="400536" cy="4005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9046" y="2601615"/>
            <a:ext cx="34936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Sumarização de Processos</a:t>
            </a:r>
            <a:endParaRPr lang="pt-BR" sz="1550" noProof="0" dirty="0"/>
          </a:p>
        </p:txBody>
      </p:sp>
      <p:sp>
        <p:nvSpPr>
          <p:cNvPr id="9" name="Text 5"/>
          <p:cNvSpPr/>
          <p:nvPr/>
        </p:nvSpPr>
        <p:spPr>
          <a:xfrm>
            <a:off x="4349046" y="2945011"/>
            <a:ext cx="3493603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automática de fluxos complexos com </a:t>
            </a:r>
            <a:r>
              <a:rPr lang="pt-BR" sz="12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geração de resumos executivos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facilitando a comunicação dos processos modelados para diferentes públicos e níveis hierárquicos.</a:t>
            </a:r>
            <a:endParaRPr lang="pt-BR" sz="125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6617" y="2007096"/>
            <a:ext cx="400536" cy="4005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6617" y="2601615"/>
            <a:ext cx="34936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Sugestões de Otimização</a:t>
            </a:r>
            <a:endParaRPr lang="pt-BR" sz="1550" noProof="0" dirty="0"/>
          </a:p>
        </p:txBody>
      </p:sp>
      <p:sp>
        <p:nvSpPr>
          <p:cNvPr id="12" name="Text 7"/>
          <p:cNvSpPr/>
          <p:nvPr/>
        </p:nvSpPr>
        <p:spPr>
          <a:xfrm>
            <a:off x="8036617" y="2945011"/>
            <a:ext cx="3493603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Recomendações inteligentes para </a:t>
            </a:r>
            <a:r>
              <a:rPr lang="pt-BR" sz="12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melhorias no fluxo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eliminação de redundâncias, apoiando o analista de processos na identificação de ineficiências.</a:t>
            </a:r>
            <a:endParaRPr lang="pt-BR" sz="1250" noProof="0" dirty="0"/>
          </a:p>
        </p:txBody>
      </p:sp>
      <p:sp>
        <p:nvSpPr>
          <p:cNvPr id="13" name="Shape 8"/>
          <p:cNvSpPr/>
          <p:nvPr/>
        </p:nvSpPr>
        <p:spPr>
          <a:xfrm>
            <a:off x="546086" y="4631432"/>
            <a:ext cx="5469694" cy="1709539"/>
          </a:xfrm>
          <a:prstGeom prst="roundRect">
            <a:avLst>
              <a:gd name="adj" fmla="val 1406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9"/>
          <p:cNvSpPr/>
          <p:nvPr/>
        </p:nvSpPr>
        <p:spPr>
          <a:xfrm>
            <a:off x="706221" y="4786610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50" noProof="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Impacto na Produtividade</a:t>
            </a:r>
            <a:endParaRPr lang="pt-BR" sz="1550" noProof="0" dirty="0"/>
          </a:p>
        </p:txBody>
      </p:sp>
      <p:sp>
        <p:nvSpPr>
          <p:cNvPr id="15" name="Text 10"/>
          <p:cNvSpPr/>
          <p:nvPr/>
        </p:nvSpPr>
        <p:spPr>
          <a:xfrm>
            <a:off x="706221" y="5192117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Os recursos de IA otimizam significativamente o tempo do analista de processos, </a:t>
            </a:r>
            <a:r>
              <a:rPr lang="pt-BR" sz="125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permitindo foco na análise crítica</a:t>
            </a:r>
            <a:r>
              <a:rPr lang="pt-BR" sz="125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e tomada de decisão estratégica, em vez de despender esforço na construção manual de diagramas.</a:t>
            </a:r>
            <a:endParaRPr lang="pt-BR" sz="1250" noProof="0" dirty="0"/>
          </a:p>
        </p:txBody>
      </p:sp>
      <p:sp>
        <p:nvSpPr>
          <p:cNvPr id="16" name="Text 11"/>
          <p:cNvSpPr/>
          <p:nvPr/>
        </p:nvSpPr>
        <p:spPr>
          <a:xfrm>
            <a:off x="6297653" y="4786610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Relevância no Mercado</a:t>
            </a:r>
            <a:endParaRPr lang="pt-BR" sz="1550" noProof="0" dirty="0"/>
          </a:p>
        </p:txBody>
      </p:sp>
      <p:sp>
        <p:nvSpPr>
          <p:cNvPr id="17" name="Text 12"/>
          <p:cNvSpPr/>
          <p:nvPr/>
        </p:nvSpPr>
        <p:spPr>
          <a:xfrm>
            <a:off x="6297653" y="5192117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integração de IA posiciona o </a:t>
            </a:r>
            <a:r>
              <a:rPr lang="pt-BR" sz="125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como </a:t>
            </a:r>
            <a:r>
              <a:rPr lang="pt-BR" sz="12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ferramenta de vanguarda</a:t>
            </a:r>
            <a:r>
              <a:rPr lang="pt-BR" sz="12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segmento de modelagem de processos, diferenciando-o de concorrentes que ainda dependem exclusivamente de operação manual.</a:t>
            </a:r>
            <a:endParaRPr lang="pt-BR" sz="1250" noProof="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181F73B-86A8-2BC2-CFE8-B65635A9B3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E769-1FCB-8455-FE1E-2B76A07B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1AD312-2374-2FED-1C72-4703D09396B3}"/>
              </a:ext>
            </a:extLst>
          </p:cNvPr>
          <p:cNvSpPr/>
          <p:nvPr/>
        </p:nvSpPr>
        <p:spPr>
          <a:xfrm>
            <a:off x="661475" y="511671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8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Exemplo de modelagem com IA</a:t>
            </a:r>
            <a:endParaRPr lang="pt-BR" sz="2850" noProof="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7BE6BAF-9B79-CC2A-D626-5BFE33C120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4EA4FBD-E6AA-8AA9-430A-8119F4396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61" y="1268075"/>
            <a:ext cx="8342277" cy="45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17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126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7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de Precificação</a:t>
            </a:r>
            <a:endParaRPr lang="pt-BR" sz="275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419423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r>
              <a:rPr lang="pt-BR" sz="110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adota um modelo </a:t>
            </a:r>
            <a:r>
              <a:rPr lang="pt-BR" sz="1100" b="1" i="1" noProof="0" dirty="0" err="1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freemium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 diferentes níveis de acesso que atendem a perfis distintos de usuários — desde estudantes até grandes organizações.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661475" y="1761827"/>
            <a:ext cx="10868745" cy="3030438"/>
          </a:xfrm>
          <a:prstGeom prst="roundRect">
            <a:avLst>
              <a:gd name="adj" fmla="val 696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61475" y="1761827"/>
            <a:ext cx="5434373" cy="1744166"/>
          </a:xfrm>
          <a:custGeom>
            <a:avLst/>
            <a:gdLst/>
            <a:ahLst/>
            <a:cxnLst/>
            <a:rect l="l" t="t" r="r" b="b"/>
            <a:pathLst>
              <a:path w="5434373" h="1744166">
                <a:moveTo>
                  <a:pt x="17573" y="0"/>
                </a:moveTo>
                <a:lnTo>
                  <a:pt x="5434373" y="0"/>
                </a:lnTo>
                <a:lnTo>
                  <a:pt x="5434373" y="1744166"/>
                </a:lnTo>
                <a:lnTo>
                  <a:pt x="0" y="1744166"/>
                </a:lnTo>
                <a:lnTo>
                  <a:pt x="0" y="17573"/>
                </a:lnTo>
                <a:arcTo wR="17573" hR="17573" stAng="10800000" swAng="5400000"/>
                <a:close/>
              </a:path>
            </a:pathLst>
          </a:cu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01965" y="1902321"/>
            <a:ext cx="515339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🆓</a:t>
            </a:r>
            <a:r>
              <a:rPr lang="pt-BR" sz="13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Plano Gratuito</a:t>
            </a:r>
            <a:endParaRPr lang="pt-BR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801965" y="2199878"/>
            <a:ext cx="5153392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 de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até 5 diagramas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simultâneos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Restrições no número de objetos por diagrama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Funcionalidades básicas de colaboração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Adequado para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uso educacional inicial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prototipagem de processos simples</a:t>
            </a:r>
            <a:endParaRPr lang="pt-B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6095848" y="1761827"/>
            <a:ext cx="5434373" cy="1744166"/>
          </a:xfrm>
          <a:custGeom>
            <a:avLst/>
            <a:gdLst/>
            <a:ahLst/>
            <a:cxnLst/>
            <a:rect l="l" t="t" r="r" b="b"/>
            <a:pathLst>
              <a:path w="5434373" h="1744166">
                <a:moveTo>
                  <a:pt x="0" y="0"/>
                </a:moveTo>
                <a:lnTo>
                  <a:pt x="5416800" y="0"/>
                </a:lnTo>
                <a:arcTo wR="17573" hR="17573" stAng="16200000" swAng="5400000"/>
                <a:lnTo>
                  <a:pt x="5434373" y="1744166"/>
                </a:lnTo>
                <a:lnTo>
                  <a:pt x="0" y="1744166"/>
                </a:lnTo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095848" y="1761827"/>
            <a:ext cx="19050" cy="1744166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236338" y="1902321"/>
            <a:ext cx="515339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👤</a:t>
            </a:r>
            <a:r>
              <a:rPr lang="pt-BR" sz="13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Individual</a:t>
            </a:r>
            <a:endParaRPr lang="pt-BR" sz="1350" noProof="0" dirty="0"/>
          </a:p>
        </p:txBody>
      </p:sp>
      <p:sp>
        <p:nvSpPr>
          <p:cNvPr id="11" name="Text 9"/>
          <p:cNvSpPr/>
          <p:nvPr/>
        </p:nvSpPr>
        <p:spPr>
          <a:xfrm>
            <a:off x="6236338" y="2199878"/>
            <a:ext cx="5153392" cy="70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Acesso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ilimitado a documentos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formas e bibliotecas disponíveis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para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profissionais autônomos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consultores</a:t>
            </a:r>
            <a:endParaRPr lang="pt-B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61475" y="3505994"/>
            <a:ext cx="5434373" cy="1286272"/>
          </a:xfrm>
          <a:custGeom>
            <a:avLst/>
            <a:gdLst/>
            <a:ahLst/>
            <a:cxnLst/>
            <a:rect l="l" t="t" r="r" b="b"/>
            <a:pathLst>
              <a:path w="5434373" h="1286272">
                <a:moveTo>
                  <a:pt x="0" y="0"/>
                </a:moveTo>
                <a:lnTo>
                  <a:pt x="5434373" y="0"/>
                </a:lnTo>
                <a:lnTo>
                  <a:pt x="5434373" y="1286272"/>
                </a:lnTo>
                <a:lnTo>
                  <a:pt x="17573" y="1286272"/>
                </a:lnTo>
                <a:arcTo wR="17573" hR="17573" stAng="5400000" swAng="5400000"/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661475" y="3505994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801965" y="3646488"/>
            <a:ext cx="515339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👥</a:t>
            </a:r>
            <a:r>
              <a:rPr lang="pt-BR" sz="13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Equipe</a:t>
            </a:r>
            <a:endParaRPr lang="pt-B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801965" y="3944045"/>
            <a:ext cx="5153392" cy="70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Colaboração avançada entre membros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permissões por projeto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Espaços compartilhados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times</a:t>
            </a:r>
            <a:endParaRPr lang="pt-B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6095848" y="3505994"/>
            <a:ext cx="5434373" cy="1286272"/>
          </a:xfrm>
          <a:custGeom>
            <a:avLst/>
            <a:gdLst/>
            <a:ahLst/>
            <a:cxnLst/>
            <a:rect l="l" t="t" r="r" b="b"/>
            <a:pathLst>
              <a:path w="5434373" h="1286272">
                <a:moveTo>
                  <a:pt x="0" y="0"/>
                </a:moveTo>
                <a:lnTo>
                  <a:pt x="5434373" y="0"/>
                </a:lnTo>
                <a:lnTo>
                  <a:pt x="5434373" y="1268699"/>
                </a:lnTo>
                <a:arcTo wR="17573" hR="17573" stAng="0" swAng="5400000"/>
                <a:lnTo>
                  <a:pt x="0" y="1286272"/>
                </a:lnTo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6095848" y="3505994"/>
            <a:ext cx="19050" cy="1286272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095848" y="3505994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236338" y="3646488"/>
            <a:ext cx="515339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🏢</a:t>
            </a:r>
            <a:r>
              <a:rPr lang="pt-BR" sz="135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Corporativo</a:t>
            </a:r>
            <a:endParaRPr lang="pt-BR" sz="1350" noProof="0" dirty="0"/>
          </a:p>
        </p:txBody>
      </p:sp>
      <p:sp>
        <p:nvSpPr>
          <p:cNvPr id="20" name="Text 18"/>
          <p:cNvSpPr/>
          <p:nvPr/>
        </p:nvSpPr>
        <p:spPr>
          <a:xfrm>
            <a:off x="6236338" y="3944045"/>
            <a:ext cx="5153392" cy="70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empresariais completos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SSO (</a:t>
            </a:r>
            <a:r>
              <a:rPr lang="pt-BR" sz="1100" i="1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</a:t>
            </a:r>
            <a:r>
              <a:rPr lang="pt-BR" sz="1100" i="1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Sign-On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e segurança avançada</a:t>
            </a:r>
            <a:endParaRPr lang="pt-BR" sz="1100" noProof="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prioritário e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customizações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61475" y="504606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 Estudantes</a:t>
            </a:r>
            <a:endParaRPr lang="pt-BR" sz="1350" noProof="0" dirty="0"/>
          </a:p>
        </p:txBody>
      </p:sp>
      <p:sp>
        <p:nvSpPr>
          <p:cNvPr id="22" name="Text 20"/>
          <p:cNvSpPr/>
          <p:nvPr/>
        </p:nvSpPr>
        <p:spPr>
          <a:xfrm>
            <a:off x="661475" y="5385098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plano gratuito oferece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funcionalidades suficientes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 realização de atividades acadêmicas, com limitações aceitáveis para o contexto educacional e de aprendizagem.</a:t>
            </a:r>
            <a:endParaRPr lang="pt-BR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6273643" y="504606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3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 Empresas</a:t>
            </a:r>
            <a:endParaRPr lang="pt-BR" sz="1350" noProof="0" dirty="0"/>
          </a:p>
        </p:txBody>
      </p:sp>
      <p:sp>
        <p:nvSpPr>
          <p:cNvPr id="24" name="Text 22"/>
          <p:cNvSpPr/>
          <p:nvPr/>
        </p:nvSpPr>
        <p:spPr>
          <a:xfrm>
            <a:off x="6273643" y="5385098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investimento nos planos pagos é </a:t>
            </a:r>
            <a:r>
              <a:rPr lang="pt-BR" sz="11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justificado pela produtividade</a:t>
            </a:r>
            <a:r>
              <a:rPr lang="pt-BR" sz="11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pela colaboração em escala, pela conformidade com padrões internacionais e pela integração com sistemas corporativos existentes.</a:t>
            </a:r>
            <a:endParaRPr lang="pt-BR" sz="1100" noProof="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BD1A2F7-6FCE-6D03-C6D3-2DD0A1815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DCCB-4BE1-E128-3243-333D388F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A0E635-503F-6D8D-439A-F3A1A093AAE5}"/>
              </a:ext>
            </a:extLst>
          </p:cNvPr>
          <p:cNvSpPr/>
          <p:nvPr/>
        </p:nvSpPr>
        <p:spPr>
          <a:xfrm>
            <a:off x="661475" y="74126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7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de Precificação</a:t>
            </a:r>
            <a:endParaRPr lang="pt-BR" sz="2750" noProof="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0E7C9DD-9579-45EA-58CB-A42AED062E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F32C98CC-FC8D-73CC-6227-2FB024D36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927" y="1421662"/>
            <a:ext cx="5931416" cy="498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5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DDA37-F1E9-A372-1CB8-2912D7B7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013A64-3563-6252-BBFC-8DEE75566D5D}"/>
              </a:ext>
            </a:extLst>
          </p:cNvPr>
          <p:cNvSpPr/>
          <p:nvPr/>
        </p:nvSpPr>
        <p:spPr>
          <a:xfrm>
            <a:off x="661475" y="74126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7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de Precificação</a:t>
            </a:r>
            <a:endParaRPr lang="pt-BR" sz="2750" noProof="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D035DA2-59E7-0E61-9A80-68B1C27C4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8592DF-E368-B239-B761-7FE0EC4CA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358" y="1180504"/>
            <a:ext cx="6660971" cy="52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6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DE4C-0A1B-1BEE-F9AE-F4AAACF9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98374C-7D57-F355-6B5C-29A206A2759B}"/>
              </a:ext>
            </a:extLst>
          </p:cNvPr>
          <p:cNvSpPr/>
          <p:nvPr/>
        </p:nvSpPr>
        <p:spPr>
          <a:xfrm>
            <a:off x="661475" y="74126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7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de Precificação</a:t>
            </a:r>
            <a:endParaRPr lang="pt-BR" sz="2750" noProof="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0AC0D2C-A629-CF7F-9251-CDA5874AA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148706-8D17-E181-1783-15DC2D8BC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572" y="1317616"/>
            <a:ext cx="5731996" cy="504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7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231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0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Crítica: Pontos Fortes e Fracos</a:t>
            </a:r>
            <a:endParaRPr lang="pt-BR" sz="3050" noProof="0" dirty="0"/>
          </a:p>
        </p:txBody>
      </p:sp>
      <p:sp>
        <p:nvSpPr>
          <p:cNvPr id="3" name="Shape 1"/>
          <p:cNvSpPr/>
          <p:nvPr/>
        </p:nvSpPr>
        <p:spPr>
          <a:xfrm>
            <a:off x="548269" y="1295003"/>
            <a:ext cx="5469098" cy="4982666"/>
          </a:xfrm>
          <a:prstGeom prst="roundRect">
            <a:avLst>
              <a:gd name="adj" fmla="val 473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05328" y="1444228"/>
            <a:ext cx="515498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00" noProof="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 Pontos Fortes</a:t>
            </a:r>
            <a:endParaRPr lang="pt-BR" sz="150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63" y="1871811"/>
            <a:ext cx="235639" cy="2356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5895" y="1864023"/>
            <a:ext cx="464441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Colaboração em nuvem</a:t>
            </a:r>
            <a:r>
              <a:rPr lang="pt-BR" sz="12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com sincronização em tempo real entre múltiplos usuários, eliminando conflitos de versão.</a:t>
            </a:r>
            <a:endParaRPr lang="pt-BR" sz="12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63" y="2660600"/>
            <a:ext cx="235639" cy="235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5895" y="2652812"/>
            <a:ext cx="464441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Curva de aprendizado rápida</a:t>
            </a:r>
            <a:r>
              <a:rPr lang="pt-BR" sz="12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, permitindo produtividade imediata mesmo para usuários sem experiência prévia.</a:t>
            </a:r>
            <a:endParaRPr lang="pt-BR" sz="12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63" y="3449389"/>
            <a:ext cx="235639" cy="2356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5895" y="3441601"/>
            <a:ext cx="464441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Recursos avançados de IA</a:t>
            </a:r>
            <a:r>
              <a:rPr lang="pt-BR" sz="12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automação de tarefas repetitivas e sugestões de otimização de processos.</a:t>
            </a:r>
            <a:endParaRPr lang="pt-BR" sz="1200" noProof="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63" y="4238179"/>
            <a:ext cx="235639" cy="2356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15895" y="4230390"/>
            <a:ext cx="464441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Suporte completo e nativo</a:t>
            </a:r>
            <a:r>
              <a:rPr lang="pt-BR" sz="12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à notação BPMN 2.0, com bibliotecas de formas padronizadas e pré-configuradas.</a:t>
            </a:r>
            <a:endParaRPr lang="pt-BR" sz="1200" noProof="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63" y="5026968"/>
            <a:ext cx="235639" cy="2356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15895" y="5019179"/>
            <a:ext cx="464441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Interface responsiva</a:t>
            </a:r>
            <a:r>
              <a:rPr lang="pt-BR" sz="1200" noProof="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e acessível em diferentes dispositivos e sistemas operacionais.</a:t>
            </a:r>
            <a:endParaRPr lang="pt-BR" sz="1200" noProof="0" dirty="0"/>
          </a:p>
        </p:txBody>
      </p:sp>
      <p:sp>
        <p:nvSpPr>
          <p:cNvPr id="15" name="Text 8"/>
          <p:cNvSpPr/>
          <p:nvPr/>
        </p:nvSpPr>
        <p:spPr>
          <a:xfrm>
            <a:off x="6293883" y="1444228"/>
            <a:ext cx="5242687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50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⚠️</a:t>
            </a:r>
            <a:r>
              <a:rPr lang="pt-BR" sz="150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Pontos Fracos</a:t>
            </a:r>
            <a:endParaRPr lang="pt-BR" sz="1500" noProof="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818" y="1871811"/>
            <a:ext cx="235639" cy="23564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04450" y="1864023"/>
            <a:ext cx="2017464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Limitações severas</a:t>
            </a:r>
            <a:r>
              <a:rPr lang="pt-BR" sz="12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 versão gratuita, restringindo uso prolongado sem investimento financeiro.</a:t>
            </a:r>
            <a:endParaRPr lang="pt-BR" sz="1200" noProof="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7375" y="1871811"/>
            <a:ext cx="235639" cy="23564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519007" y="1864023"/>
            <a:ext cx="2017563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Dependência crítica</a:t>
            </a:r>
            <a:r>
              <a:rPr lang="pt-BR" sz="12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conexão com internet para funcionamento, inviabilizando uso em ambientes offline.</a:t>
            </a:r>
            <a:endParaRPr lang="pt-BR" sz="1200" noProof="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818" y="3396109"/>
            <a:ext cx="235639" cy="23564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804450" y="3388320"/>
            <a:ext cx="2017464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Preocupações com segurança</a:t>
            </a:r>
            <a:r>
              <a:rPr lang="pt-BR" sz="12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dados em ambientes corporativos altamente regulados (ex.: setor financeiro e saúde).</a:t>
            </a:r>
            <a:endParaRPr lang="pt-BR" sz="1200" noProof="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7375" y="3396109"/>
            <a:ext cx="235639" cy="23564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519007" y="3388320"/>
            <a:ext cx="2017563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Custo dos planos pagos</a:t>
            </a:r>
            <a:r>
              <a:rPr lang="pt-BR" sz="120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pode ser elevado para pequenas organizações com orçamento restrito.</a:t>
            </a:r>
            <a:endParaRPr lang="pt-BR" sz="1200" noProof="0" dirty="0"/>
          </a:p>
        </p:txBody>
      </p:sp>
      <p:sp>
        <p:nvSpPr>
          <p:cNvPr id="24" name="Shape 13"/>
          <p:cNvSpPr/>
          <p:nvPr/>
        </p:nvSpPr>
        <p:spPr>
          <a:xfrm>
            <a:off x="6293883" y="4782046"/>
            <a:ext cx="5242687" cy="1327745"/>
          </a:xfrm>
          <a:prstGeom prst="roundRect">
            <a:avLst>
              <a:gd name="adj" fmla="val 1775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943" y="5010745"/>
            <a:ext cx="196349" cy="15706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804351" y="4955580"/>
            <a:ext cx="457516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200" b="1" noProof="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Conclusão parcial:</a:t>
            </a:r>
            <a:r>
              <a:rPr lang="pt-BR" sz="1200" noProof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Ferramenta robusta com excelente relação custo-benefício para a maioria dos cenários, com ressalvas específicas para contextos offline ou com restrições orçamentárias.</a:t>
            </a:r>
            <a:endParaRPr lang="pt-BR" sz="1200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1EC7044-9F7A-BA3D-2324-C77B25FAE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671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8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Aplicabilidade</a:t>
            </a:r>
            <a:endParaRPr lang="pt-BR" sz="2850" noProof="0" dirty="0"/>
          </a:p>
        </p:txBody>
      </p:sp>
      <p:sp>
        <p:nvSpPr>
          <p:cNvPr id="3" name="Text 1"/>
          <p:cNvSpPr/>
          <p:nvPr/>
        </p:nvSpPr>
        <p:spPr>
          <a:xfrm>
            <a:off x="661475" y="1229122"/>
            <a:ext cx="10868745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r>
              <a:rPr lang="pt-BR" sz="1150" noProof="0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Lucidchart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demonstra </a:t>
            </a:r>
            <a:r>
              <a:rPr lang="pt-BR" sz="11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versatilidade de aplicação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 diferentes perfis organizacionais, sendo particularmente eficaz onde a colaboração ágil e a padronização de processos são fatores críticos de sucesso.</a:t>
            </a:r>
            <a:endParaRPr lang="pt-BR" sz="1150" noProof="0" dirty="0"/>
          </a:p>
        </p:txBody>
      </p:sp>
      <p:sp>
        <p:nvSpPr>
          <p:cNvPr id="4" name="Shape 2"/>
          <p:cNvSpPr/>
          <p:nvPr/>
        </p:nvSpPr>
        <p:spPr>
          <a:xfrm>
            <a:off x="661475" y="1817191"/>
            <a:ext cx="5369485" cy="1262856"/>
          </a:xfrm>
          <a:prstGeom prst="roundRect">
            <a:avLst>
              <a:gd name="adj" fmla="val 174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07918" y="1963638"/>
            <a:ext cx="507659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0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🚀</a:t>
            </a:r>
            <a:r>
              <a:rPr lang="pt-BR" sz="14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Startups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807918" y="2270423"/>
            <a:ext cx="5076599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Necessitam de ferramentas </a:t>
            </a:r>
            <a:r>
              <a:rPr lang="pt-BR" sz="11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ágeis e colaborativas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 baixo custo inicial. O plano gratuito atende às demandas iniciais de mapeamento de processos.</a:t>
            </a:r>
            <a:endParaRPr lang="pt-BR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6160735" y="1817191"/>
            <a:ext cx="5369485" cy="1262856"/>
          </a:xfrm>
          <a:prstGeom prst="roundRect">
            <a:avLst>
              <a:gd name="adj" fmla="val 174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307178" y="1963638"/>
            <a:ext cx="507659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0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🏪</a:t>
            </a:r>
            <a:r>
              <a:rPr lang="pt-BR" sz="14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pt-BR" sz="1400" noProof="0" dirty="0" err="1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PMEs</a:t>
            </a:r>
            <a:endParaRPr lang="pt-BR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6307178" y="2270423"/>
            <a:ext cx="5076599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Buscam </a:t>
            </a:r>
            <a:r>
              <a:rPr lang="pt-BR" sz="11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padronização de processos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sem investimento em infraestrutura tecnológica complexa ou equipes especializadas de TI.</a:t>
            </a:r>
            <a:endParaRPr lang="pt-BR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661475" y="3209826"/>
            <a:ext cx="5369485" cy="1041797"/>
          </a:xfrm>
          <a:prstGeom prst="roundRect">
            <a:avLst>
              <a:gd name="adj" fmla="val 211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807918" y="3356273"/>
            <a:ext cx="507659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0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🏢</a:t>
            </a:r>
            <a:r>
              <a:rPr lang="pt-BR" sz="14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Grandes Corporações</a:t>
            </a:r>
            <a:endParaRPr lang="pt-B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807918" y="3663057"/>
            <a:ext cx="5076599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Requerem </a:t>
            </a:r>
            <a:r>
              <a:rPr lang="pt-BR" sz="11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colaboração em larga escala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conformidade com padrões internacionais e integração com sistemas legados existentes.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160735" y="3209826"/>
            <a:ext cx="5369485" cy="1041797"/>
          </a:xfrm>
          <a:prstGeom prst="roundRect">
            <a:avLst>
              <a:gd name="adj" fmla="val 211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307178" y="3356273"/>
            <a:ext cx="507659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400" noProof="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🎓</a:t>
            </a:r>
            <a:r>
              <a:rPr lang="pt-BR" sz="1400" noProof="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Instituições Acadêmicas</a:t>
            </a:r>
            <a:endParaRPr lang="pt-BR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307178" y="3663057"/>
            <a:ext cx="5076599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Utilizam para </a:t>
            </a:r>
            <a:r>
              <a:rPr lang="pt-BR" sz="1150" b="1" noProof="0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ensino de modelagem</a:t>
            </a:r>
            <a:r>
              <a:rPr lang="pt-BR" sz="1150" noProof="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processos e pesquisa em otimização e reengenharia de processos organizacionais.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61475" y="443418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  <p:txBody>
          <a:bodyPr/>
          <a:lstStyle/>
          <a:p>
            <a:endParaRPr lang="pt-BR" noProof="0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278435C-79BA-7EFD-5CB8-88B49462B287}"/>
              </a:ext>
            </a:extLst>
          </p:cNvPr>
          <p:cNvGrpSpPr/>
          <p:nvPr/>
        </p:nvGrpSpPr>
        <p:grpSpPr>
          <a:xfrm>
            <a:off x="3151208" y="4635798"/>
            <a:ext cx="5466618" cy="1710531"/>
            <a:chOff x="556008" y="4635798"/>
            <a:chExt cx="5466618" cy="1710531"/>
          </a:xfrm>
        </p:grpSpPr>
        <p:sp>
          <p:nvSpPr>
            <p:cNvPr id="17" name="Shape 15"/>
            <p:cNvSpPr/>
            <p:nvPr/>
          </p:nvSpPr>
          <p:spPr>
            <a:xfrm>
              <a:off x="556008" y="4635798"/>
              <a:ext cx="5466618" cy="1710531"/>
            </a:xfrm>
            <a:prstGeom prst="roundRect">
              <a:avLst>
                <a:gd name="adj" fmla="val 1285"/>
              </a:avLst>
            </a:prstGeom>
            <a:solidFill>
              <a:srgbClr val="EAE8F3"/>
            </a:solidFill>
            <a:ln/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02451" y="4765576"/>
              <a:ext cx="5173732" cy="2288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1400" noProof="0" dirty="0"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Fator Crítico de Sucesso</a:t>
              </a:r>
              <a:endParaRPr lang="pt-BR" sz="1400" noProof="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02451" y="5124252"/>
              <a:ext cx="5173732" cy="884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6000"/>
                </a:lnSpc>
                <a:buNone/>
              </a:pPr>
              <a:r>
                <a:rPr lang="pt-BR" sz="1150" noProof="0" dirty="0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 necessidade de </a:t>
              </a:r>
              <a:r>
                <a:rPr lang="pt-BR" sz="1150" b="1" noProof="0" dirty="0"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colaboração ágil</a:t>
              </a:r>
              <a:r>
                <a:rPr lang="pt-BR" sz="1150" noProof="0" dirty="0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é o principal diferencial do </a:t>
              </a:r>
              <a:r>
                <a:rPr lang="pt-BR" sz="1150" noProof="0" dirty="0" err="1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Lucidchart</a:t>
              </a:r>
              <a:r>
                <a:rPr lang="pt-BR" sz="1150" noProof="0" dirty="0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em relação a ferramentas concorrentes, sendo determinante para a escolha da plataforma em contextos onde equipes distribuídas precisam trabalhar de forma sincronizada.</a:t>
              </a:r>
              <a:endParaRPr lang="pt-BR" sz="1150" noProof="0" dirty="0"/>
            </a:p>
          </p:txBody>
        </p:sp>
      </p:grpSp>
      <p:sp>
        <p:nvSpPr>
          <p:cNvPr id="23" name="Retângulo 22">
            <a:extLst>
              <a:ext uri="{FF2B5EF4-FFF2-40B4-BE49-F238E27FC236}">
                <a16:creationId xmlns:a16="http://schemas.microsoft.com/office/drawing/2014/main" id="{0B3528DF-FAFD-D0D8-E4D2-E81A800E12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7BD9-5C4F-36B9-609B-7C9239A7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78E8CC-58D8-28B5-A0D8-1F688EE9F207}"/>
              </a:ext>
            </a:extLst>
          </p:cNvPr>
          <p:cNvSpPr/>
          <p:nvPr/>
        </p:nvSpPr>
        <p:spPr>
          <a:xfrm>
            <a:off x="661475" y="511671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8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Uso na indústria</a:t>
            </a:r>
            <a:endParaRPr lang="pt-BR" sz="285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311171-15D5-362D-9E4D-33357790AB6C}"/>
              </a:ext>
            </a:extLst>
          </p:cNvPr>
          <p:cNvSpPr/>
          <p:nvPr/>
        </p:nvSpPr>
        <p:spPr>
          <a:xfrm>
            <a:off x="4364779" y="6060281"/>
            <a:ext cx="3462133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pt-BR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https://www.joinsecret.com/pt/lucidchart/reviews</a:t>
            </a:r>
            <a:endParaRPr lang="pt-BR" sz="1150" noProof="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E224D00-66F0-82C5-B11A-BF7635E80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5BC7A85-A97A-0572-23F3-F6F65B2D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219" y="1126405"/>
            <a:ext cx="8047255" cy="481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86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A954-3B34-F020-A557-13A794D5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D96F1D-FEB6-ED2F-39FC-42C005F85411}"/>
              </a:ext>
            </a:extLst>
          </p:cNvPr>
          <p:cNvSpPr/>
          <p:nvPr/>
        </p:nvSpPr>
        <p:spPr>
          <a:xfrm>
            <a:off x="661475" y="511671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8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Prós e contras das avaliações</a:t>
            </a:r>
            <a:endParaRPr lang="pt-BR" sz="285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9D7FB6-1EFA-641F-8CB0-92A56CEC0C05}"/>
              </a:ext>
            </a:extLst>
          </p:cNvPr>
          <p:cNvSpPr/>
          <p:nvPr/>
        </p:nvSpPr>
        <p:spPr>
          <a:xfrm>
            <a:off x="4364779" y="6060281"/>
            <a:ext cx="3462133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pt-BR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https://www.joinsecret.com/pt/lucidchart/reviews</a:t>
            </a:r>
            <a:endParaRPr lang="pt-BR" sz="1150" noProof="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14EB794-2046-9841-2FA5-2DD3B1DE4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FF9777-C8DE-D123-AC56-F25B54B5D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92" y="1030067"/>
            <a:ext cx="9341505" cy="49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9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F4F1-5F37-5F39-96C6-85163375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AF61A8-64C0-FADD-49A3-14E98BB154FB}"/>
              </a:ext>
            </a:extLst>
          </p:cNvPr>
          <p:cNvSpPr/>
          <p:nvPr/>
        </p:nvSpPr>
        <p:spPr>
          <a:xfrm>
            <a:off x="661475" y="511671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2850" noProof="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Prós e contras das avaliações</a:t>
            </a:r>
            <a:endParaRPr lang="pt-BR" sz="285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08580F-14E5-0563-87E2-967A4D180456}"/>
              </a:ext>
            </a:extLst>
          </p:cNvPr>
          <p:cNvSpPr/>
          <p:nvPr/>
        </p:nvSpPr>
        <p:spPr>
          <a:xfrm>
            <a:off x="4364779" y="6060281"/>
            <a:ext cx="3462133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pt-BR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https://www.joinsecret.com/pt/lucidchart/reviews</a:t>
            </a:r>
            <a:endParaRPr lang="pt-BR" sz="1150" noProof="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B6BF06-9662-38CB-2F86-48F70B35FB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28218" y="6502400"/>
            <a:ext cx="1089891" cy="277091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2F2A98-BE55-087E-DAD3-81F0A7419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976" y="969566"/>
            <a:ext cx="9267738" cy="504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1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1368</Words>
  <Application>Microsoft Office PowerPoint</Application>
  <PresentationFormat>Widescreen</PresentationFormat>
  <Paragraphs>139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Open Sans Bold</vt:lpstr>
      <vt:lpstr>Arial</vt:lpstr>
      <vt:lpstr>Libre Baskerville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Gustavo Schopf Anibele</dc:creator>
  <cp:lastModifiedBy>Gustavo Schopf Anibele</cp:lastModifiedBy>
  <cp:revision>3</cp:revision>
  <dcterms:created xsi:type="dcterms:W3CDTF">2026-09-03T20:50:29Z</dcterms:created>
  <dcterms:modified xsi:type="dcterms:W3CDTF">2026-09-09T19:45:23Z</dcterms:modified>
</cp:coreProperties>
</file>