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notesMasterIdLst>
    <p:notesMasterId r:id="rId21"/>
  </p:notesMasterIdLst>
  <p:sldIdLst>
    <p:sldId id="256" r:id="rId2"/>
    <p:sldId id="258" r:id="rId3"/>
    <p:sldId id="259" r:id="rId4"/>
    <p:sldId id="260" r:id="rId5"/>
    <p:sldId id="263" r:id="rId6"/>
    <p:sldId id="267" r:id="rId7"/>
    <p:sldId id="269" r:id="rId8"/>
    <p:sldId id="268" r:id="rId9"/>
    <p:sldId id="261" r:id="rId10"/>
    <p:sldId id="266" r:id="rId11"/>
    <p:sldId id="262" r:id="rId12"/>
    <p:sldId id="270" r:id="rId13"/>
    <p:sldId id="271" r:id="rId14"/>
    <p:sldId id="272" r:id="rId15"/>
    <p:sldId id="264" r:id="rId16"/>
    <p:sldId id="265" r:id="rId17"/>
    <p:sldId id="273" r:id="rId18"/>
    <p:sldId id="274" r:id="rId19"/>
    <p:sldId id="275" r:id="rId20"/>
  </p:sldIdLst>
  <p:sldSz cx="12192000" cy="6858000"/>
  <p:notesSz cx="6858000" cy="12192000"/>
  <p:embeddedFontLst>
    <p:embeddedFont>
      <p:font typeface="Libre Baskerville" panose="02000000000000000000" pitchFamily="2" charset="0"/>
      <p:regular r:id="rId22"/>
      <p:bold r:id="rId23"/>
      <p:italic r:id="rId24"/>
    </p:embeddedFont>
    <p:embeddedFont>
      <p:font typeface="Open Sans" panose="020B0606030504020204" pitchFamily="34" charset="0"/>
      <p:regular r:id="rId25"/>
      <p:bold r:id="rId26"/>
      <p:italic r:id="rId27"/>
      <p:boldItalic r:id="rId28"/>
    </p:embeddedFont>
    <p:embeddedFont>
      <p:font typeface="Open Sans Bold" panose="020B0806030504020204" charset="0"/>
      <p:regular r:id="rId29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7D6F5"/>
    <a:srgbClr val="EAE8F3"/>
    <a:srgbClr val="FBFA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11" d="100"/>
          <a:sy n="111" d="100"/>
        </p:scale>
        <p:origin x="55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font" Target="fonts/font5.fntdata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4.fntdata"/><Relationship Id="rId33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font" Target="fonts/font8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3.fntdata"/><Relationship Id="rId32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2.fntdata"/><Relationship Id="rId28" Type="http://schemas.openxmlformats.org/officeDocument/2006/relationships/font" Target="fonts/font7.fntdata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1.fntdata"/><Relationship Id="rId27" Type="http://schemas.openxmlformats.org/officeDocument/2006/relationships/font" Target="fonts/font6.fntdata"/><Relationship Id="rId30" Type="http://schemas.openxmlformats.org/officeDocument/2006/relationships/presProps" Target="presProps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367332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B2A6F6-93DF-682F-9847-D0BB3BE6CB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5332C5F-6289-0614-39F0-DDB7370164C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C31D6FD-D17D-3C23-83EA-A8C0D49B2D0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5C03B75-51A4-0BCF-4A69-6F76E724A4A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945681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3C249F-3B17-F49E-0D0D-06BAD583DC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7125E11-33FE-0B6D-5ED4-883AF003F35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CB654AF-EA2D-C4DC-C56B-215D85641DA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49781BE-7DC2-04C8-5093-E18B7C1CD5C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005330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501066-0C6A-B124-A8EA-11F33B14DD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1453B44-99D6-4C17-7286-781D72FAA24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3373CE1-98BD-5489-0BCE-C4A5B5F35ED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D1153DD-9FA2-03E9-7680-E391CE2987B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6219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AFD5B2-D260-358F-7494-50C01E6D57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817CDD6-BA92-7559-37C2-F86C2565ECE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839943B-B1CB-12D3-FFB8-42982642CC0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CC3003F-BDDE-860A-CDB8-A450410FBCB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164277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B2ACCD-CB82-CE25-D31F-3A12BDCED3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1B3B780-5D31-1D3D-57B2-7911B788AD0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267537B-D0F1-3406-7A9D-B6F9A45EFCE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6B62EFB-D0F4-AD8E-5391-F7E747929FB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5970955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9C805A-808C-CD1F-5EE2-BA4215969D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39E103D-6DD7-1D4F-E1B9-818AE0B616D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6F8780E-6C70-058F-3B7F-BC51017FDFF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095B79D-4711-6C3A-A342-BB2FF19E0F5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05425905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9AE307-3DC8-6C55-FB7D-2C139DDD27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7996BF0-BB5E-CD1F-EE09-29BA8329C78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B4A93DC-1D52-6A93-83C2-00C3FF4BD2C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EC68157-3991-FAAF-387C-13FCBED6B84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498770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19BE82-206E-0DFE-6CEC-B417E95E6F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E6C2E4A-E964-C62C-3315-3DBB8A6CB4B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1C0F958-DC80-2C79-45F1-655AE16D8DD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8A69ED1-3DB5-6533-14E8-3D7B8D3069D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09006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D587A5-BCF2-5971-3B5D-F4FAC8A87D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43C3C39-5ABA-A75E-3255-BB7C4627794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E64E350-EDE9-CA57-F295-17A6E08C5D1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2E092A5-3DD4-AE04-6D0C-A4B3D13E6C7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2845276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A5CBF4-80BB-C943-5CD4-AE175E7EBA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9781C68-8CAC-F6A6-246F-108FC9218EF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ED27C15-1F4B-4B00-7AA8-E481A8E48EE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9A78CC9-6EBA-87AB-AFE6-E0CD735B49D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716278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master 1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0FF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F"/>
          </a:solidFill>
          <a:ln/>
        </p:spPr>
        <p:txBody>
          <a:bodyPr/>
          <a:lstStyle/>
          <a:p>
            <a:endParaRPr lang="pt-BR"/>
          </a:p>
        </p:txBody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76875" y="6558991"/>
            <a:ext cx="1071843" cy="256032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jpe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sv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svg"/><Relationship Id="rId3" Type="http://schemas.openxmlformats.org/officeDocument/2006/relationships/image" Target="../media/image12.png"/><Relationship Id="rId7" Type="http://schemas.openxmlformats.org/officeDocument/2006/relationships/image" Target="../media/image16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.svg"/><Relationship Id="rId5" Type="http://schemas.openxmlformats.org/officeDocument/2006/relationships/image" Target="../media/image14.png"/><Relationship Id="rId4" Type="http://schemas.openxmlformats.org/officeDocument/2006/relationships/image" Target="../media/image13.sv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7" Type="http://schemas.openxmlformats.org/officeDocument/2006/relationships/image" Target="../media/image26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5.svg"/><Relationship Id="rId5" Type="http://schemas.openxmlformats.org/officeDocument/2006/relationships/image" Target="../media/image24.png"/><Relationship Id="rId4" Type="http://schemas.openxmlformats.org/officeDocument/2006/relationships/image" Target="../media/image23.sv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82640" y="713550"/>
            <a:ext cx="3134670" cy="3134748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58241" y="723619"/>
            <a:ext cx="3251119" cy="3134749"/>
          </a:xfrm>
          <a:prstGeom prst="rect">
            <a:avLst/>
          </a:prstGeom>
        </p:spPr>
      </p:pic>
      <p:grpSp>
        <p:nvGrpSpPr>
          <p:cNvPr id="12" name="Agrupar 11">
            <a:extLst>
              <a:ext uri="{FF2B5EF4-FFF2-40B4-BE49-F238E27FC236}">
                <a16:creationId xmlns:a16="http://schemas.microsoft.com/office/drawing/2014/main" id="{53630F7D-909F-5181-7D93-CCE924874B8A}"/>
              </a:ext>
            </a:extLst>
          </p:cNvPr>
          <p:cNvGrpSpPr/>
          <p:nvPr/>
        </p:nvGrpSpPr>
        <p:grpSpPr>
          <a:xfrm>
            <a:off x="661475" y="4068961"/>
            <a:ext cx="10868745" cy="570805"/>
            <a:chOff x="661475" y="4803577"/>
            <a:chExt cx="10868745" cy="570805"/>
          </a:xfrm>
        </p:grpSpPr>
        <p:sp>
          <p:nvSpPr>
            <p:cNvPr id="4" name="Text 0"/>
            <p:cNvSpPr/>
            <p:nvPr/>
          </p:nvSpPr>
          <p:spPr>
            <a:xfrm>
              <a:off x="661475" y="4803577"/>
              <a:ext cx="10868745" cy="38764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marL="0" indent="0" algn="ctr">
                <a:lnSpc>
                  <a:spcPct val="104000"/>
                </a:lnSpc>
                <a:buNone/>
              </a:pPr>
              <a:r>
                <a:rPr lang="pt-BR" sz="2400" noProof="0" dirty="0">
                  <a:solidFill>
                    <a:srgbClr val="403CCF"/>
                  </a:solidFill>
                  <a:latin typeface="Libre Baskerville" pitchFamily="34" charset="0"/>
                  <a:ea typeface="Libre Baskerville" pitchFamily="34" charset="-122"/>
                  <a:cs typeface="Libre Baskerville" pitchFamily="34" charset="-120"/>
                </a:rPr>
                <a:t>Ferramentas de Modelagem BPMN: Uma Análise do </a:t>
              </a:r>
              <a:r>
                <a:rPr lang="pt-BR" sz="2400" noProof="0" dirty="0" err="1">
                  <a:solidFill>
                    <a:srgbClr val="403CCF"/>
                  </a:solidFill>
                  <a:latin typeface="Libre Baskerville" pitchFamily="34" charset="0"/>
                  <a:ea typeface="Libre Baskerville" pitchFamily="34" charset="-122"/>
                  <a:cs typeface="Libre Baskerville" pitchFamily="34" charset="-120"/>
                </a:rPr>
                <a:t>Lucidchart</a:t>
              </a:r>
              <a:endParaRPr lang="pt-BR" sz="2400" noProof="0" dirty="0"/>
            </a:p>
          </p:txBody>
        </p:sp>
        <p:sp>
          <p:nvSpPr>
            <p:cNvPr id="5" name="Shape 1"/>
            <p:cNvSpPr/>
            <p:nvPr/>
          </p:nvSpPr>
          <p:spPr>
            <a:xfrm>
              <a:off x="661475" y="5361682"/>
              <a:ext cx="10868745" cy="12700"/>
            </a:xfrm>
            <a:prstGeom prst="roundRect">
              <a:avLst>
                <a:gd name="adj" fmla="val 49999"/>
              </a:avLst>
            </a:prstGeom>
            <a:solidFill>
              <a:srgbClr val="49495A">
                <a:alpha val="50000"/>
              </a:srgbClr>
            </a:solidFill>
            <a:ln/>
          </p:spPr>
          <p:txBody>
            <a:bodyPr/>
            <a:lstStyle/>
            <a:p>
              <a:endParaRPr lang="pt-BR" noProof="0" dirty="0"/>
            </a:p>
          </p:txBody>
        </p:sp>
      </p:grpSp>
      <p:grpSp>
        <p:nvGrpSpPr>
          <p:cNvPr id="13" name="Agrupar 12">
            <a:extLst>
              <a:ext uri="{FF2B5EF4-FFF2-40B4-BE49-F238E27FC236}">
                <a16:creationId xmlns:a16="http://schemas.microsoft.com/office/drawing/2014/main" id="{AF976B83-6E49-859C-08B9-69068B6641FF}"/>
              </a:ext>
            </a:extLst>
          </p:cNvPr>
          <p:cNvGrpSpPr/>
          <p:nvPr/>
        </p:nvGrpSpPr>
        <p:grpSpPr>
          <a:xfrm>
            <a:off x="1316905" y="4810223"/>
            <a:ext cx="10875095" cy="688181"/>
            <a:chOff x="661475" y="5593556"/>
            <a:chExt cx="10875095" cy="688181"/>
          </a:xfrm>
        </p:grpSpPr>
        <p:sp>
          <p:nvSpPr>
            <p:cNvPr id="6" name="Text 2"/>
            <p:cNvSpPr/>
            <p:nvPr/>
          </p:nvSpPr>
          <p:spPr>
            <a:xfrm>
              <a:off x="661475" y="5593556"/>
              <a:ext cx="5283068" cy="68818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lnSpc>
                  <a:spcPct val="117000"/>
                </a:lnSpc>
                <a:spcAft>
                  <a:spcPts val="650"/>
                </a:spcAft>
                <a:buNone/>
              </a:pPr>
              <a:r>
                <a:rPr lang="pt-BR" sz="1600" b="1" noProof="0" dirty="0">
                  <a:solidFill>
                    <a:srgbClr val="49495A"/>
                  </a:solidFill>
                  <a:latin typeface="Arial" panose="020B0604020202020204" pitchFamily="34" charset="0"/>
                  <a:ea typeface="Open Sans Bold" pitchFamily="34" charset="-122"/>
                  <a:cs typeface="Arial" panose="020B0604020202020204" pitchFamily="34" charset="0"/>
                </a:rPr>
                <a:t>Alunos:</a:t>
              </a:r>
              <a:r>
                <a:rPr lang="pt-BR" sz="1600" noProof="0" dirty="0">
                  <a:solidFill>
                    <a:srgbClr val="49495A"/>
                  </a:solidFill>
                  <a:latin typeface="Arial" panose="020B0604020202020204" pitchFamily="34" charset="0"/>
                  <a:ea typeface="Open Sans" pitchFamily="34" charset="-122"/>
                  <a:cs typeface="Arial" panose="020B0604020202020204" pitchFamily="34" charset="0"/>
                </a:rPr>
                <a:t> Gustavo Anibele, Igor Ribas e Giuliano Trevisan</a:t>
              </a:r>
              <a:endParaRPr lang="pt-BR" sz="1600" noProof="0" dirty="0">
                <a:latin typeface="Arial" panose="020B0604020202020204" pitchFamily="34" charset="0"/>
                <a:cs typeface="Arial" panose="020B0604020202020204" pitchFamily="34" charset="0"/>
              </a:endParaRPr>
            </a:p>
            <a:p>
              <a:pPr marL="0" indent="0" algn="l">
                <a:lnSpc>
                  <a:spcPct val="117000"/>
                </a:lnSpc>
                <a:buNone/>
              </a:pPr>
              <a:r>
                <a:rPr lang="pt-BR" sz="1600" b="1" noProof="0" dirty="0">
                  <a:solidFill>
                    <a:srgbClr val="49495A"/>
                  </a:solidFill>
                  <a:latin typeface="Arial" panose="020B0604020202020204" pitchFamily="34" charset="0"/>
                  <a:ea typeface="Open Sans Bold" pitchFamily="34" charset="-122"/>
                  <a:cs typeface="Arial" panose="020B0604020202020204" pitchFamily="34" charset="0"/>
                </a:rPr>
                <a:t>Disciplina:</a:t>
              </a:r>
              <a:r>
                <a:rPr lang="pt-BR" sz="1600" noProof="0" dirty="0">
                  <a:solidFill>
                    <a:srgbClr val="49495A"/>
                  </a:solidFill>
                  <a:latin typeface="Arial" panose="020B0604020202020204" pitchFamily="34" charset="0"/>
                  <a:ea typeface="Open Sans" pitchFamily="34" charset="-122"/>
                  <a:cs typeface="Arial" panose="020B0604020202020204" pitchFamily="34" charset="0"/>
                </a:rPr>
                <a:t> Modelagem de Processos</a:t>
              </a:r>
              <a:endParaRPr lang="pt-BR" sz="1600" noProof="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7" name="Text 3"/>
            <p:cNvSpPr/>
            <p:nvPr/>
          </p:nvSpPr>
          <p:spPr>
            <a:xfrm>
              <a:off x="6253502" y="5593556"/>
              <a:ext cx="5283068" cy="68818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lnSpc>
                  <a:spcPct val="117000"/>
                </a:lnSpc>
                <a:spcAft>
                  <a:spcPts val="650"/>
                </a:spcAft>
                <a:buNone/>
              </a:pPr>
              <a:r>
                <a:rPr lang="pt-BR" sz="1600" b="1" noProof="0" dirty="0">
                  <a:solidFill>
                    <a:srgbClr val="49495A"/>
                  </a:solidFill>
                  <a:latin typeface="Arial" panose="020B0604020202020204" pitchFamily="34" charset="0"/>
                  <a:ea typeface="Open Sans Bold" pitchFamily="34" charset="-122"/>
                  <a:cs typeface="Arial" panose="020B0604020202020204" pitchFamily="34" charset="0"/>
                </a:rPr>
                <a:t>Curso:</a:t>
              </a:r>
              <a:r>
                <a:rPr lang="pt-BR" sz="1600" noProof="0" dirty="0">
                  <a:solidFill>
                    <a:srgbClr val="49495A"/>
                  </a:solidFill>
                  <a:latin typeface="Arial" panose="020B0604020202020204" pitchFamily="34" charset="0"/>
                  <a:ea typeface="Open Sans" pitchFamily="34" charset="-122"/>
                  <a:cs typeface="Arial" panose="020B0604020202020204" pitchFamily="34" charset="0"/>
                </a:rPr>
                <a:t> Sistemas de Informação</a:t>
              </a:r>
              <a:endParaRPr lang="pt-BR" sz="1600" noProof="0" dirty="0">
                <a:latin typeface="Arial" panose="020B0604020202020204" pitchFamily="34" charset="0"/>
                <a:cs typeface="Arial" panose="020B0604020202020204" pitchFamily="34" charset="0"/>
              </a:endParaRPr>
            </a:p>
            <a:p>
              <a:pPr marL="0" indent="0" algn="l">
                <a:lnSpc>
                  <a:spcPct val="117000"/>
                </a:lnSpc>
                <a:buNone/>
              </a:pPr>
              <a:r>
                <a:rPr lang="pt-BR" sz="1600" b="1" noProof="0" dirty="0">
                  <a:solidFill>
                    <a:srgbClr val="49495A"/>
                  </a:solidFill>
                  <a:latin typeface="Arial" panose="020B0604020202020204" pitchFamily="34" charset="0"/>
                  <a:ea typeface="Open Sans Bold" pitchFamily="34" charset="-122"/>
                  <a:cs typeface="Arial" panose="020B0604020202020204" pitchFamily="34" charset="0"/>
                </a:rPr>
                <a:t>Professor:</a:t>
              </a:r>
              <a:r>
                <a:rPr lang="pt-BR" sz="1600" noProof="0" dirty="0">
                  <a:solidFill>
                    <a:srgbClr val="49495A"/>
                  </a:solidFill>
                  <a:latin typeface="Arial" panose="020B0604020202020204" pitchFamily="34" charset="0"/>
                  <a:ea typeface="Open Sans" pitchFamily="34" charset="-122"/>
                  <a:cs typeface="Arial" panose="020B0604020202020204" pitchFamily="34" charset="0"/>
                </a:rPr>
                <a:t> Herysson Figueiredo</a:t>
              </a:r>
              <a:endParaRPr lang="pt-BR" sz="1600" noProof="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sp>
        <p:nvSpPr>
          <p:cNvPr id="9" name="Retângulo 8">
            <a:extLst>
              <a:ext uri="{FF2B5EF4-FFF2-40B4-BE49-F238E27FC236}">
                <a16:creationId xmlns:a16="http://schemas.microsoft.com/office/drawing/2014/main" id="{2022F7E4-5122-0E75-63A2-9C20B126C56A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1028218" y="6502400"/>
            <a:ext cx="1089891" cy="277091"/>
          </a:xfrm>
          <a:prstGeom prst="rect">
            <a:avLst/>
          </a:prstGeom>
          <a:solidFill>
            <a:srgbClr val="FBFAFF"/>
          </a:solidFill>
          <a:ln>
            <a:solidFill>
              <a:srgbClr val="FBFA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664170"/>
            <a:ext cx="10868745" cy="51673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pt-BR" sz="3250" noProof="0" dirty="0">
                <a:solidFill>
                  <a:srgbClr val="403CCF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Visão Geral do </a:t>
            </a:r>
            <a:r>
              <a:rPr lang="pt-BR" sz="3250" noProof="0" dirty="0" err="1">
                <a:solidFill>
                  <a:srgbClr val="403CCF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Lucidchart</a:t>
            </a:r>
            <a:endParaRPr lang="pt-BR" sz="3250" noProof="0" dirty="0"/>
          </a:p>
        </p:txBody>
      </p:sp>
      <p:sp>
        <p:nvSpPr>
          <p:cNvPr id="3" name="Shape 1"/>
          <p:cNvSpPr/>
          <p:nvPr/>
        </p:nvSpPr>
        <p:spPr>
          <a:xfrm>
            <a:off x="542415" y="1428948"/>
            <a:ext cx="4343490" cy="4764782"/>
          </a:xfrm>
          <a:prstGeom prst="roundRect">
            <a:avLst>
              <a:gd name="adj" fmla="val 571"/>
            </a:avLst>
          </a:prstGeom>
          <a:solidFill>
            <a:srgbClr val="D7D6F5"/>
          </a:solidFill>
          <a:ln/>
        </p:spPr>
        <p:txBody>
          <a:bodyPr/>
          <a:lstStyle/>
          <a:p>
            <a:endParaRPr lang="pt-BR" noProof="0" dirty="0"/>
          </a:p>
        </p:txBody>
      </p:sp>
      <p:sp>
        <p:nvSpPr>
          <p:cNvPr id="4" name="Text 2"/>
          <p:cNvSpPr/>
          <p:nvPr/>
        </p:nvSpPr>
        <p:spPr>
          <a:xfrm>
            <a:off x="707710" y="1594247"/>
            <a:ext cx="4012901" cy="25846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pt-BR" sz="1600" noProof="0" dirty="0"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Identificação da Plataforma</a:t>
            </a:r>
            <a:endParaRPr lang="pt-BR" sz="1600" noProof="0" dirty="0"/>
          </a:p>
        </p:txBody>
      </p:sp>
      <p:sp>
        <p:nvSpPr>
          <p:cNvPr id="5" name="Text 3"/>
          <p:cNvSpPr/>
          <p:nvPr/>
        </p:nvSpPr>
        <p:spPr>
          <a:xfrm>
            <a:off x="707710" y="2018010"/>
            <a:ext cx="4012901" cy="29438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spcAft>
                <a:spcPts val="1150"/>
              </a:spcAft>
              <a:buNone/>
            </a:pPr>
            <a:r>
              <a:rPr lang="pt-BR" sz="1300" b="1" noProof="0" dirty="0">
                <a:latin typeface="Open Sans Bold" pitchFamily="34" charset="0"/>
                <a:ea typeface="Open Sans Bold" pitchFamily="34" charset="-122"/>
                <a:cs typeface="Open Sans Bold" pitchFamily="34" charset="-120"/>
              </a:rPr>
              <a:t>Desenvolvedor:</a:t>
            </a:r>
            <a:r>
              <a:rPr lang="pt-BR" sz="1300" noProof="0" dirty="0">
                <a:latin typeface="Open Sans" pitchFamily="34" charset="0"/>
                <a:ea typeface="Open Sans" pitchFamily="34" charset="-122"/>
                <a:cs typeface="Open Sans" pitchFamily="34" charset="-120"/>
              </a:rPr>
              <a:t> </a:t>
            </a:r>
            <a:r>
              <a:rPr lang="pt-BR" sz="1300" noProof="0" dirty="0" err="1">
                <a:latin typeface="Open Sans" pitchFamily="34" charset="0"/>
                <a:ea typeface="Open Sans" pitchFamily="34" charset="-122"/>
                <a:cs typeface="Open Sans" pitchFamily="34" charset="-120"/>
              </a:rPr>
              <a:t>Lucid</a:t>
            </a:r>
            <a:r>
              <a:rPr lang="pt-BR" sz="1300" noProof="0" dirty="0">
                <a:latin typeface="Open Sans" pitchFamily="34" charset="0"/>
                <a:ea typeface="Open Sans" pitchFamily="34" charset="-122"/>
                <a:cs typeface="Open Sans" pitchFamily="34" charset="-120"/>
              </a:rPr>
              <a:t> Software, empresa especializada em soluções de visualização colaborativa.</a:t>
            </a:r>
            <a:endParaRPr lang="pt-BR" sz="1300" noProof="0" dirty="0"/>
          </a:p>
          <a:p>
            <a:pPr marL="0" indent="0" algn="l">
              <a:lnSpc>
                <a:spcPct val="133000"/>
              </a:lnSpc>
              <a:spcAft>
                <a:spcPts val="1150"/>
              </a:spcAft>
              <a:buNone/>
            </a:pPr>
            <a:r>
              <a:rPr lang="pt-BR" sz="1300" b="1" noProof="0" dirty="0">
                <a:latin typeface="Open Sans Bold" pitchFamily="34" charset="0"/>
                <a:ea typeface="Open Sans Bold" pitchFamily="34" charset="-122"/>
                <a:cs typeface="Open Sans Bold" pitchFamily="34" charset="-120"/>
              </a:rPr>
              <a:t>Natureza:</a:t>
            </a:r>
            <a:r>
              <a:rPr lang="pt-BR" sz="1300" noProof="0" dirty="0">
                <a:latin typeface="Open Sans" pitchFamily="34" charset="0"/>
                <a:ea typeface="Open Sans" pitchFamily="34" charset="-122"/>
                <a:cs typeface="Open Sans" pitchFamily="34" charset="-120"/>
              </a:rPr>
              <a:t> Plataforma 100% baseada em nuvem, com suporte a colaboração simultânea em tempo real, sem necessidade de instalação local.</a:t>
            </a:r>
            <a:endParaRPr lang="pt-BR" sz="1300" noProof="0" dirty="0"/>
          </a:p>
          <a:p>
            <a:pPr marL="0" indent="0" algn="l">
              <a:lnSpc>
                <a:spcPct val="133000"/>
              </a:lnSpc>
              <a:buNone/>
            </a:pPr>
            <a:r>
              <a:rPr lang="pt-BR" sz="1300" b="1" noProof="0" dirty="0">
                <a:latin typeface="Open Sans Bold" pitchFamily="34" charset="0"/>
                <a:ea typeface="Open Sans Bold" pitchFamily="34" charset="-122"/>
                <a:cs typeface="Open Sans Bold" pitchFamily="34" charset="-120"/>
              </a:rPr>
              <a:t>Aplicabilidade:</a:t>
            </a:r>
            <a:r>
              <a:rPr lang="pt-BR" sz="1300" noProof="0" dirty="0">
                <a:latin typeface="Open Sans" pitchFamily="34" charset="0"/>
                <a:ea typeface="Open Sans" pitchFamily="34" charset="-122"/>
                <a:cs typeface="Open Sans" pitchFamily="34" charset="-120"/>
              </a:rPr>
              <a:t> Adequada tanto para ambientes acadêmicos quanto para contextos corporativos de diferentes portes, desde startups até grandes empresas.</a:t>
            </a:r>
            <a:endParaRPr lang="pt-BR" sz="1300" noProof="0" dirty="0"/>
          </a:p>
        </p:txBody>
      </p:sp>
      <p:sp>
        <p:nvSpPr>
          <p:cNvPr id="6" name="Text 4"/>
          <p:cNvSpPr/>
          <p:nvPr/>
        </p:nvSpPr>
        <p:spPr>
          <a:xfrm>
            <a:off x="5176609" y="1594247"/>
            <a:ext cx="6359862" cy="25846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pt-BR" sz="1600" noProof="0" dirty="0">
                <a:solidFill>
                  <a:srgbClr val="403CCF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Características Principais</a:t>
            </a:r>
            <a:endParaRPr lang="pt-BR" sz="1600" noProof="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238619" y="2046883"/>
            <a:ext cx="248041" cy="248047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5713964" y="2038747"/>
            <a:ext cx="5822507" cy="52923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pt-BR" sz="1300" b="1" noProof="0" dirty="0">
                <a:solidFill>
                  <a:srgbClr val="49495A"/>
                </a:solidFill>
                <a:latin typeface="Open Sans Bold" pitchFamily="34" charset="0"/>
                <a:ea typeface="Open Sans Bold" pitchFamily="34" charset="-122"/>
                <a:cs typeface="Open Sans Bold" pitchFamily="34" charset="-120"/>
              </a:rPr>
              <a:t>Interface intuitiva</a:t>
            </a:r>
            <a:r>
              <a:rPr lang="pt-BR" sz="1300" noProof="0" dirty="0">
                <a:solidFill>
                  <a:srgbClr val="49495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 e acessível para usuários de diferentes níveis de experiência em modelagem de processos.</a:t>
            </a:r>
            <a:endParaRPr lang="pt-BR" sz="1300" noProof="0" dirty="0"/>
          </a:p>
        </p:txBody>
      </p:sp>
      <p:pic>
        <p:nvPicPr>
          <p:cNvPr id="9" name="Image 1" descr="preencoded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238619" y="2906812"/>
            <a:ext cx="248041" cy="248047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5713964" y="2898676"/>
            <a:ext cx="5822507" cy="52923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pt-BR" sz="1300" b="1" noProof="0" dirty="0">
                <a:solidFill>
                  <a:srgbClr val="49495A"/>
                </a:solidFill>
                <a:latin typeface="Open Sans Bold" pitchFamily="34" charset="0"/>
                <a:ea typeface="Open Sans Bold" pitchFamily="34" charset="-122"/>
                <a:cs typeface="Open Sans Bold" pitchFamily="34" charset="-120"/>
              </a:rPr>
              <a:t>Suporte nativo</a:t>
            </a:r>
            <a:r>
              <a:rPr lang="pt-BR" sz="1300" noProof="0" dirty="0">
                <a:solidFill>
                  <a:srgbClr val="49495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 a múltiplas notações de modelagem, com destaque para a conformidade completa com o padrão BPMN 2.0.</a:t>
            </a:r>
            <a:endParaRPr lang="pt-BR" sz="1300" noProof="0" dirty="0"/>
          </a:p>
        </p:txBody>
      </p:sp>
      <p:pic>
        <p:nvPicPr>
          <p:cNvPr id="11" name="Image 2" descr="preencoded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238619" y="3766741"/>
            <a:ext cx="248041" cy="248047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5713964" y="3758605"/>
            <a:ext cx="5822507" cy="52923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pt-BR" sz="1300" b="1" noProof="0" dirty="0">
                <a:solidFill>
                  <a:srgbClr val="49495A"/>
                </a:solidFill>
                <a:latin typeface="Open Sans Bold" pitchFamily="34" charset="0"/>
                <a:ea typeface="Open Sans Bold" pitchFamily="34" charset="-122"/>
                <a:cs typeface="Open Sans Bold" pitchFamily="34" charset="-120"/>
              </a:rPr>
              <a:t>Colaboração em tempo real</a:t>
            </a:r>
            <a:r>
              <a:rPr lang="pt-BR" sz="1300" noProof="0" dirty="0">
                <a:solidFill>
                  <a:srgbClr val="49495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, permitindo trabalho simultâneo de múltiplos usuários no mesmo diagrama.</a:t>
            </a:r>
            <a:endParaRPr lang="pt-BR" sz="1300" noProof="0" dirty="0"/>
          </a:p>
        </p:txBody>
      </p:sp>
      <p:pic>
        <p:nvPicPr>
          <p:cNvPr id="13" name="Image 3" descr="preencoded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238619" y="4626670"/>
            <a:ext cx="248041" cy="2480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5713964" y="4618534"/>
            <a:ext cx="5822507" cy="52923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pt-BR" sz="1300" b="1" noProof="0" dirty="0">
                <a:solidFill>
                  <a:srgbClr val="49495A"/>
                </a:solidFill>
                <a:latin typeface="Open Sans Bold" pitchFamily="34" charset="0"/>
                <a:ea typeface="Open Sans Bold" pitchFamily="34" charset="-122"/>
                <a:cs typeface="Open Sans Bold" pitchFamily="34" charset="-120"/>
              </a:rPr>
              <a:t>Integração</a:t>
            </a:r>
            <a:r>
              <a:rPr lang="pt-BR" sz="1300" noProof="0" dirty="0">
                <a:solidFill>
                  <a:srgbClr val="49495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 com ferramentas corporativas e acadêmicas amplamente utilizadas no mercado.</a:t>
            </a:r>
            <a:endParaRPr lang="pt-BR" sz="1300" noProof="0" dirty="0"/>
          </a:p>
        </p:txBody>
      </p:sp>
      <p:pic>
        <p:nvPicPr>
          <p:cNvPr id="15" name="Image 4" descr="preencoded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238619" y="5486598"/>
            <a:ext cx="248041" cy="248047"/>
          </a:xfrm>
          <a:prstGeom prst="rect">
            <a:avLst/>
          </a:prstGeom>
        </p:spPr>
      </p:pic>
      <p:sp>
        <p:nvSpPr>
          <p:cNvPr id="16" name="Text 9"/>
          <p:cNvSpPr/>
          <p:nvPr/>
        </p:nvSpPr>
        <p:spPr>
          <a:xfrm>
            <a:off x="5713964" y="5478462"/>
            <a:ext cx="5822507" cy="52923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pt-BR" sz="1300" b="1" noProof="0" dirty="0">
                <a:solidFill>
                  <a:srgbClr val="49495A"/>
                </a:solidFill>
                <a:latin typeface="Open Sans Bold" pitchFamily="34" charset="0"/>
                <a:ea typeface="Open Sans Bold" pitchFamily="34" charset="-122"/>
                <a:cs typeface="Open Sans Bold" pitchFamily="34" charset="-120"/>
              </a:rPr>
              <a:t>Disponibilidade web</a:t>
            </a:r>
            <a:r>
              <a:rPr lang="pt-BR" sz="1300" noProof="0" dirty="0">
                <a:solidFill>
                  <a:srgbClr val="49495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, eliminando a necessidade de instalação e manutenção de software local.</a:t>
            </a:r>
            <a:endParaRPr lang="pt-BR" sz="1300" noProof="0" dirty="0"/>
          </a:p>
        </p:txBody>
      </p:sp>
      <p:sp>
        <p:nvSpPr>
          <p:cNvPr id="18" name="Retângulo 17">
            <a:extLst>
              <a:ext uri="{FF2B5EF4-FFF2-40B4-BE49-F238E27FC236}">
                <a16:creationId xmlns:a16="http://schemas.microsoft.com/office/drawing/2014/main" id="{29F5DB3E-B79E-CD10-7F3B-51F362D79FD3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1028218" y="6502400"/>
            <a:ext cx="1089891" cy="277091"/>
          </a:xfrm>
          <a:prstGeom prst="rect">
            <a:avLst/>
          </a:prstGeom>
          <a:solidFill>
            <a:srgbClr val="FBFAFF"/>
          </a:solidFill>
          <a:ln>
            <a:solidFill>
              <a:srgbClr val="FBFA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526852"/>
            <a:ext cx="10868745" cy="51673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pt-BR" sz="3250" noProof="0" dirty="0">
                <a:solidFill>
                  <a:srgbClr val="403CCF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Simbologia e Suporte à Notação BPMN</a:t>
            </a:r>
            <a:endParaRPr lang="pt-BR" sz="3250" noProof="0" dirty="0"/>
          </a:p>
        </p:txBody>
      </p:sp>
      <p:sp>
        <p:nvSpPr>
          <p:cNvPr id="3" name="Text 1"/>
          <p:cNvSpPr/>
          <p:nvPr/>
        </p:nvSpPr>
        <p:spPr>
          <a:xfrm>
            <a:off x="661475" y="1374279"/>
            <a:ext cx="10868745" cy="79384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pt-BR" sz="1300" noProof="0" dirty="0">
                <a:solidFill>
                  <a:srgbClr val="49495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O </a:t>
            </a:r>
            <a:r>
              <a:rPr lang="pt-BR" sz="1300" noProof="0" dirty="0" err="1">
                <a:solidFill>
                  <a:srgbClr val="49495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Lucidchart</a:t>
            </a:r>
            <a:r>
              <a:rPr lang="pt-BR" sz="1300" noProof="0" dirty="0">
                <a:solidFill>
                  <a:srgbClr val="49495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 oferece </a:t>
            </a:r>
            <a:r>
              <a:rPr lang="pt-BR" sz="1300" b="1" noProof="0" dirty="0">
                <a:solidFill>
                  <a:srgbClr val="49495A"/>
                </a:solidFill>
                <a:latin typeface="Open Sans Bold" pitchFamily="34" charset="0"/>
                <a:ea typeface="Open Sans Bold" pitchFamily="34" charset="-122"/>
                <a:cs typeface="Open Sans Bold" pitchFamily="34" charset="-120"/>
              </a:rPr>
              <a:t>suporte nativo e completo à notação BPMN 2.0</a:t>
            </a:r>
            <a:r>
              <a:rPr lang="pt-BR" sz="1300" noProof="0" dirty="0">
                <a:solidFill>
                  <a:srgbClr val="49495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, padrão internacional para modelagem de processos estabelecido pelo </a:t>
            </a:r>
            <a:r>
              <a:rPr lang="pt-BR" sz="1300" noProof="0" dirty="0" err="1">
                <a:solidFill>
                  <a:srgbClr val="49495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Object</a:t>
            </a:r>
            <a:r>
              <a:rPr lang="pt-BR" sz="1300" noProof="0" dirty="0">
                <a:solidFill>
                  <a:srgbClr val="49495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 Management </a:t>
            </a:r>
            <a:r>
              <a:rPr lang="pt-BR" sz="1300" noProof="0" dirty="0" err="1">
                <a:solidFill>
                  <a:srgbClr val="49495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Group</a:t>
            </a:r>
            <a:r>
              <a:rPr lang="pt-BR" sz="1300" noProof="0" dirty="0">
                <a:solidFill>
                  <a:srgbClr val="49495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 (OMG). As bibliotecas de formas padronizadas disponíveis cobrem todos os elementos essenciais da notação:</a:t>
            </a:r>
            <a:endParaRPr lang="pt-BR" sz="1300" noProof="0" dirty="0"/>
          </a:p>
        </p:txBody>
      </p:sp>
      <p:sp>
        <p:nvSpPr>
          <p:cNvPr id="4" name="Shape 2"/>
          <p:cNvSpPr/>
          <p:nvPr/>
        </p:nvSpPr>
        <p:spPr>
          <a:xfrm>
            <a:off x="661475" y="2354163"/>
            <a:ext cx="5351725" cy="1482130"/>
          </a:xfrm>
          <a:prstGeom prst="roundRect">
            <a:avLst>
              <a:gd name="adj" fmla="val 1674"/>
            </a:avLst>
          </a:prstGeom>
          <a:solidFill>
            <a:srgbClr val="EAE8F3"/>
          </a:solidFill>
          <a:ln/>
        </p:spPr>
        <p:txBody>
          <a:bodyPr/>
          <a:lstStyle/>
          <a:p>
            <a:endParaRPr lang="pt-BR" noProof="0" dirty="0"/>
          </a:p>
        </p:txBody>
      </p:sp>
      <p:sp>
        <p:nvSpPr>
          <p:cNvPr id="5" name="Text 3"/>
          <p:cNvSpPr/>
          <p:nvPr/>
        </p:nvSpPr>
        <p:spPr>
          <a:xfrm>
            <a:off x="826769" y="2519462"/>
            <a:ext cx="5021137" cy="25846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pt-BR" sz="1600" noProof="0" dirty="0">
                <a:solidFill>
                  <a:srgbClr val="49495A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Eventos</a:t>
            </a:r>
            <a:endParaRPr lang="pt-BR" sz="1600" noProof="0" dirty="0"/>
          </a:p>
        </p:txBody>
      </p:sp>
      <p:sp>
        <p:nvSpPr>
          <p:cNvPr id="6" name="Text 4"/>
          <p:cNvSpPr/>
          <p:nvPr/>
        </p:nvSpPr>
        <p:spPr>
          <a:xfrm>
            <a:off x="826769" y="2877145"/>
            <a:ext cx="5021137" cy="79384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pt-BR" sz="1300" noProof="0" dirty="0">
                <a:solidFill>
                  <a:srgbClr val="49495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Eventos de </a:t>
            </a:r>
            <a:r>
              <a:rPr lang="pt-BR" sz="1300" b="1" noProof="0" dirty="0">
                <a:solidFill>
                  <a:srgbClr val="49495A"/>
                </a:solidFill>
                <a:latin typeface="Open Sans Bold" pitchFamily="34" charset="0"/>
                <a:ea typeface="Open Sans Bold" pitchFamily="34" charset="-122"/>
                <a:cs typeface="Open Sans Bold" pitchFamily="34" charset="-120"/>
              </a:rPr>
              <a:t>início</a:t>
            </a:r>
            <a:r>
              <a:rPr lang="pt-BR" sz="1300" noProof="0" dirty="0">
                <a:solidFill>
                  <a:srgbClr val="49495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, </a:t>
            </a:r>
            <a:r>
              <a:rPr lang="pt-BR" sz="1300" b="1" noProof="0" dirty="0">
                <a:solidFill>
                  <a:srgbClr val="49495A"/>
                </a:solidFill>
                <a:latin typeface="Open Sans Bold" pitchFamily="34" charset="0"/>
                <a:ea typeface="Open Sans Bold" pitchFamily="34" charset="-122"/>
                <a:cs typeface="Open Sans Bold" pitchFamily="34" charset="-120"/>
              </a:rPr>
              <a:t>intermediários</a:t>
            </a:r>
            <a:r>
              <a:rPr lang="pt-BR" sz="1300" noProof="0" dirty="0">
                <a:solidFill>
                  <a:srgbClr val="49495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 e de </a:t>
            </a:r>
            <a:r>
              <a:rPr lang="pt-BR" sz="1300" b="1" noProof="0" dirty="0">
                <a:solidFill>
                  <a:srgbClr val="49495A"/>
                </a:solidFill>
                <a:latin typeface="Open Sans Bold" pitchFamily="34" charset="0"/>
                <a:ea typeface="Open Sans Bold" pitchFamily="34" charset="-122"/>
                <a:cs typeface="Open Sans Bold" pitchFamily="34" charset="-120"/>
              </a:rPr>
              <a:t>fim</a:t>
            </a:r>
            <a:r>
              <a:rPr lang="pt-BR" sz="1300" noProof="0" dirty="0">
                <a:solidFill>
                  <a:srgbClr val="49495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 de processos, claramente diferenciados por espessura e preenchimento de borda, conforme o padrão BPMN 2.0.</a:t>
            </a:r>
            <a:endParaRPr lang="pt-BR" sz="1300" noProof="0" dirty="0"/>
          </a:p>
        </p:txBody>
      </p:sp>
      <p:sp>
        <p:nvSpPr>
          <p:cNvPr id="7" name="Shape 5"/>
          <p:cNvSpPr/>
          <p:nvPr/>
        </p:nvSpPr>
        <p:spPr>
          <a:xfrm>
            <a:off x="6178495" y="2354163"/>
            <a:ext cx="5351725" cy="1482130"/>
          </a:xfrm>
          <a:prstGeom prst="roundRect">
            <a:avLst>
              <a:gd name="adj" fmla="val 1674"/>
            </a:avLst>
          </a:prstGeom>
          <a:solidFill>
            <a:srgbClr val="EAE8F3"/>
          </a:solidFill>
          <a:ln/>
        </p:spPr>
        <p:txBody>
          <a:bodyPr/>
          <a:lstStyle/>
          <a:p>
            <a:endParaRPr lang="pt-BR" noProof="0" dirty="0"/>
          </a:p>
        </p:txBody>
      </p:sp>
      <p:sp>
        <p:nvSpPr>
          <p:cNvPr id="8" name="Text 6"/>
          <p:cNvSpPr/>
          <p:nvPr/>
        </p:nvSpPr>
        <p:spPr>
          <a:xfrm>
            <a:off x="6343789" y="2519462"/>
            <a:ext cx="5021137" cy="25846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pt-BR" sz="1600" noProof="0" dirty="0">
                <a:solidFill>
                  <a:srgbClr val="49495A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Atividades</a:t>
            </a:r>
            <a:endParaRPr lang="pt-BR" sz="1600" noProof="0" dirty="0"/>
          </a:p>
        </p:txBody>
      </p:sp>
      <p:sp>
        <p:nvSpPr>
          <p:cNvPr id="9" name="Text 7"/>
          <p:cNvSpPr/>
          <p:nvPr/>
        </p:nvSpPr>
        <p:spPr>
          <a:xfrm>
            <a:off x="6343789" y="2877145"/>
            <a:ext cx="5021137" cy="79384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pt-BR" sz="1300" b="1" noProof="0" dirty="0">
                <a:solidFill>
                  <a:srgbClr val="49495A"/>
                </a:solidFill>
                <a:latin typeface="Open Sans Bold" pitchFamily="34" charset="0"/>
                <a:ea typeface="Open Sans Bold" pitchFamily="34" charset="-122"/>
                <a:cs typeface="Open Sans Bold" pitchFamily="34" charset="-120"/>
              </a:rPr>
              <a:t>Tarefas</a:t>
            </a:r>
            <a:r>
              <a:rPr lang="pt-BR" sz="1300" noProof="0" dirty="0">
                <a:solidFill>
                  <a:srgbClr val="49495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, </a:t>
            </a:r>
            <a:r>
              <a:rPr lang="pt-BR" sz="1300" b="1" noProof="0" dirty="0">
                <a:solidFill>
                  <a:srgbClr val="49495A"/>
                </a:solidFill>
                <a:latin typeface="Open Sans Bold" pitchFamily="34" charset="0"/>
                <a:ea typeface="Open Sans Bold" pitchFamily="34" charset="-122"/>
                <a:cs typeface="Open Sans Bold" pitchFamily="34" charset="-120"/>
              </a:rPr>
              <a:t>subprocessos</a:t>
            </a:r>
            <a:r>
              <a:rPr lang="pt-BR" sz="1300" noProof="0" dirty="0">
                <a:solidFill>
                  <a:srgbClr val="49495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 e </a:t>
            </a:r>
            <a:r>
              <a:rPr lang="pt-BR" sz="1300" b="1" noProof="0" dirty="0">
                <a:solidFill>
                  <a:srgbClr val="49495A"/>
                </a:solidFill>
                <a:latin typeface="Open Sans Bold" pitchFamily="34" charset="0"/>
                <a:ea typeface="Open Sans Bold" pitchFamily="34" charset="-122"/>
                <a:cs typeface="Open Sans Bold" pitchFamily="34" charset="-120"/>
              </a:rPr>
              <a:t>processos chamados</a:t>
            </a:r>
            <a:r>
              <a:rPr lang="pt-BR" sz="1300" noProof="0" dirty="0">
                <a:solidFill>
                  <a:srgbClr val="49495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, com representações visuais distintas que indicam o tipo de execução e responsabilidade.</a:t>
            </a:r>
            <a:endParaRPr lang="pt-BR" sz="1300" noProof="0" dirty="0"/>
          </a:p>
        </p:txBody>
      </p:sp>
      <p:sp>
        <p:nvSpPr>
          <p:cNvPr id="10" name="Shape 8"/>
          <p:cNvSpPr/>
          <p:nvPr/>
        </p:nvSpPr>
        <p:spPr>
          <a:xfrm>
            <a:off x="661475" y="4001591"/>
            <a:ext cx="5351725" cy="1217513"/>
          </a:xfrm>
          <a:prstGeom prst="roundRect">
            <a:avLst>
              <a:gd name="adj" fmla="val 2038"/>
            </a:avLst>
          </a:prstGeom>
          <a:solidFill>
            <a:srgbClr val="EAE8F3"/>
          </a:solidFill>
          <a:ln/>
        </p:spPr>
        <p:txBody>
          <a:bodyPr/>
          <a:lstStyle/>
          <a:p>
            <a:endParaRPr lang="pt-BR" noProof="0" dirty="0"/>
          </a:p>
        </p:txBody>
      </p:sp>
      <p:sp>
        <p:nvSpPr>
          <p:cNvPr id="11" name="Text 9"/>
          <p:cNvSpPr/>
          <p:nvPr/>
        </p:nvSpPr>
        <p:spPr>
          <a:xfrm>
            <a:off x="826769" y="4166890"/>
            <a:ext cx="5021137" cy="25846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pt-BR" sz="1600" noProof="0" dirty="0">
                <a:solidFill>
                  <a:srgbClr val="49495A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Gateways</a:t>
            </a:r>
            <a:endParaRPr lang="pt-BR" sz="1600" noProof="0" dirty="0"/>
          </a:p>
        </p:txBody>
      </p:sp>
      <p:sp>
        <p:nvSpPr>
          <p:cNvPr id="12" name="Text 10"/>
          <p:cNvSpPr/>
          <p:nvPr/>
        </p:nvSpPr>
        <p:spPr>
          <a:xfrm>
            <a:off x="826769" y="4524573"/>
            <a:ext cx="5021137" cy="52923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pt-BR" sz="1300" noProof="0" dirty="0">
                <a:solidFill>
                  <a:srgbClr val="49495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Elementos de decisão, paralelização e sincronização de fluxos: </a:t>
            </a:r>
            <a:r>
              <a:rPr lang="pt-BR" sz="1300" b="1" noProof="0" dirty="0">
                <a:solidFill>
                  <a:srgbClr val="49495A"/>
                </a:solidFill>
                <a:latin typeface="Open Sans Bold" pitchFamily="34" charset="0"/>
                <a:ea typeface="Open Sans Bold" pitchFamily="34" charset="-122"/>
                <a:cs typeface="Open Sans Bold" pitchFamily="34" charset="-120"/>
              </a:rPr>
              <a:t>exclusivo (XOR)</a:t>
            </a:r>
            <a:r>
              <a:rPr lang="pt-BR" sz="1300" noProof="0" dirty="0">
                <a:solidFill>
                  <a:srgbClr val="49495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, </a:t>
            </a:r>
            <a:r>
              <a:rPr lang="pt-BR" sz="1300" b="1" noProof="0" dirty="0">
                <a:solidFill>
                  <a:srgbClr val="49495A"/>
                </a:solidFill>
                <a:latin typeface="Open Sans Bold" pitchFamily="34" charset="0"/>
                <a:ea typeface="Open Sans Bold" pitchFamily="34" charset="-122"/>
                <a:cs typeface="Open Sans Bold" pitchFamily="34" charset="-120"/>
              </a:rPr>
              <a:t>inclusivo (OR)</a:t>
            </a:r>
            <a:r>
              <a:rPr lang="pt-BR" sz="1300" noProof="0" dirty="0">
                <a:solidFill>
                  <a:srgbClr val="49495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 e </a:t>
            </a:r>
            <a:r>
              <a:rPr lang="pt-BR" sz="1300" b="1" noProof="0" dirty="0">
                <a:solidFill>
                  <a:srgbClr val="49495A"/>
                </a:solidFill>
                <a:latin typeface="Open Sans Bold" pitchFamily="34" charset="0"/>
                <a:ea typeface="Open Sans Bold" pitchFamily="34" charset="-122"/>
                <a:cs typeface="Open Sans Bold" pitchFamily="34" charset="-120"/>
              </a:rPr>
              <a:t>paralelo (AND)</a:t>
            </a:r>
            <a:r>
              <a:rPr lang="pt-BR" sz="1300" noProof="0" dirty="0">
                <a:solidFill>
                  <a:srgbClr val="49495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, entre outros.</a:t>
            </a:r>
            <a:endParaRPr lang="pt-BR" sz="1300" noProof="0" dirty="0"/>
          </a:p>
        </p:txBody>
      </p:sp>
      <p:sp>
        <p:nvSpPr>
          <p:cNvPr id="13" name="Shape 11"/>
          <p:cNvSpPr/>
          <p:nvPr/>
        </p:nvSpPr>
        <p:spPr>
          <a:xfrm>
            <a:off x="6178495" y="4001591"/>
            <a:ext cx="5351725" cy="1217513"/>
          </a:xfrm>
          <a:prstGeom prst="roundRect">
            <a:avLst>
              <a:gd name="adj" fmla="val 2038"/>
            </a:avLst>
          </a:prstGeom>
          <a:solidFill>
            <a:srgbClr val="EAE8F3"/>
          </a:solidFill>
          <a:ln/>
        </p:spPr>
        <p:txBody>
          <a:bodyPr/>
          <a:lstStyle/>
          <a:p>
            <a:endParaRPr lang="pt-BR" noProof="0" dirty="0"/>
          </a:p>
        </p:txBody>
      </p:sp>
      <p:sp>
        <p:nvSpPr>
          <p:cNvPr id="14" name="Text 12"/>
          <p:cNvSpPr/>
          <p:nvPr/>
        </p:nvSpPr>
        <p:spPr>
          <a:xfrm>
            <a:off x="6343789" y="4166890"/>
            <a:ext cx="5021137" cy="25846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pt-BR" sz="1600" noProof="0" dirty="0">
                <a:solidFill>
                  <a:srgbClr val="49495A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Artefatos</a:t>
            </a:r>
            <a:endParaRPr lang="pt-BR" sz="1600" noProof="0" dirty="0"/>
          </a:p>
        </p:txBody>
      </p:sp>
      <p:sp>
        <p:nvSpPr>
          <p:cNvPr id="15" name="Text 13"/>
          <p:cNvSpPr/>
          <p:nvPr/>
        </p:nvSpPr>
        <p:spPr>
          <a:xfrm>
            <a:off x="6343789" y="4524573"/>
            <a:ext cx="5021137" cy="52923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pt-BR" sz="1300" b="1" noProof="0" dirty="0">
                <a:solidFill>
                  <a:srgbClr val="49495A"/>
                </a:solidFill>
                <a:latin typeface="Open Sans Bold" pitchFamily="34" charset="0"/>
                <a:ea typeface="Open Sans Bold" pitchFamily="34" charset="-122"/>
                <a:cs typeface="Open Sans Bold" pitchFamily="34" charset="-120"/>
              </a:rPr>
              <a:t>Anotações</a:t>
            </a:r>
            <a:r>
              <a:rPr lang="pt-BR" sz="1300" noProof="0" dirty="0">
                <a:solidFill>
                  <a:srgbClr val="49495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, </a:t>
            </a:r>
            <a:r>
              <a:rPr lang="pt-BR" sz="1300" b="1" noProof="0" dirty="0">
                <a:solidFill>
                  <a:srgbClr val="49495A"/>
                </a:solidFill>
                <a:latin typeface="Open Sans Bold" pitchFamily="34" charset="0"/>
                <a:ea typeface="Open Sans Bold" pitchFamily="34" charset="-122"/>
                <a:cs typeface="Open Sans Bold" pitchFamily="34" charset="-120"/>
              </a:rPr>
              <a:t>grupos</a:t>
            </a:r>
            <a:r>
              <a:rPr lang="pt-BR" sz="1300" noProof="0" dirty="0">
                <a:solidFill>
                  <a:srgbClr val="49495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 e </a:t>
            </a:r>
            <a:r>
              <a:rPr lang="pt-BR" sz="1300" b="1" noProof="0" dirty="0">
                <a:solidFill>
                  <a:srgbClr val="49495A"/>
                </a:solidFill>
                <a:latin typeface="Open Sans Bold" pitchFamily="34" charset="0"/>
                <a:ea typeface="Open Sans Bold" pitchFamily="34" charset="-122"/>
                <a:cs typeface="Open Sans Bold" pitchFamily="34" charset="-120"/>
              </a:rPr>
              <a:t>objetos de dados</a:t>
            </a:r>
            <a:r>
              <a:rPr lang="pt-BR" sz="1300" noProof="0" dirty="0">
                <a:solidFill>
                  <a:srgbClr val="49495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 para enriquecimento semântico do diagrama e maior clareza comunicacional.</a:t>
            </a:r>
            <a:endParaRPr lang="pt-BR" sz="1300" noProof="0" dirty="0"/>
          </a:p>
        </p:txBody>
      </p:sp>
      <p:sp>
        <p:nvSpPr>
          <p:cNvPr id="16" name="Shape 14"/>
          <p:cNvSpPr/>
          <p:nvPr/>
        </p:nvSpPr>
        <p:spPr>
          <a:xfrm>
            <a:off x="661475" y="5405140"/>
            <a:ext cx="10868745" cy="925909"/>
          </a:xfrm>
          <a:prstGeom prst="roundRect">
            <a:avLst>
              <a:gd name="adj" fmla="val 2679"/>
            </a:avLst>
          </a:prstGeom>
          <a:solidFill>
            <a:srgbClr val="D7D6F5"/>
          </a:solidFill>
          <a:ln/>
        </p:spPr>
        <p:txBody>
          <a:bodyPr/>
          <a:lstStyle/>
          <a:p>
            <a:endParaRPr lang="pt-BR" noProof="0" dirty="0"/>
          </a:p>
        </p:txBody>
      </p:sp>
      <p:pic>
        <p:nvPicPr>
          <p:cNvPr id="1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6769" y="5644852"/>
            <a:ext cx="206667" cy="165298"/>
          </a:xfrm>
          <a:prstGeom prst="rect">
            <a:avLst/>
          </a:prstGeom>
        </p:spPr>
      </p:pic>
      <p:sp>
        <p:nvSpPr>
          <p:cNvPr id="18" name="Text 15"/>
          <p:cNvSpPr/>
          <p:nvPr/>
        </p:nvSpPr>
        <p:spPr>
          <a:xfrm>
            <a:off x="1198731" y="5611713"/>
            <a:ext cx="10166195" cy="52923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pt-BR" sz="1300" noProof="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Todas as formas estão pré-configuradas e prontas para uso, eliminando a necessidade de customização manual de símbolos e garantindo conformidade com o padrão BPMN, o que acelera significativamente o processo de modelagem.</a:t>
            </a:r>
            <a:endParaRPr lang="pt-BR" sz="1300" noProof="0" dirty="0"/>
          </a:p>
        </p:txBody>
      </p:sp>
      <p:sp>
        <p:nvSpPr>
          <p:cNvPr id="20" name="Retângulo 19">
            <a:extLst>
              <a:ext uri="{FF2B5EF4-FFF2-40B4-BE49-F238E27FC236}">
                <a16:creationId xmlns:a16="http://schemas.microsoft.com/office/drawing/2014/main" id="{6B84CF5C-E7DB-2859-8FCE-02D0F7BFE2AB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1028218" y="6502400"/>
            <a:ext cx="1089891" cy="277091"/>
          </a:xfrm>
          <a:prstGeom prst="rect">
            <a:avLst/>
          </a:prstGeom>
          <a:solidFill>
            <a:srgbClr val="FBFAFF"/>
          </a:solidFill>
          <a:ln>
            <a:solidFill>
              <a:srgbClr val="FBFA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542925"/>
            <a:ext cx="10868745" cy="46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pt-BR" sz="2900" noProof="0" dirty="0">
                <a:solidFill>
                  <a:srgbClr val="403CCF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Interface e Usabilidade</a:t>
            </a:r>
            <a:endParaRPr lang="pt-BR" sz="2900" noProof="0" dirty="0"/>
          </a:p>
        </p:txBody>
      </p:sp>
      <p:sp>
        <p:nvSpPr>
          <p:cNvPr id="3" name="Text 1"/>
          <p:cNvSpPr/>
          <p:nvPr/>
        </p:nvSpPr>
        <p:spPr>
          <a:xfrm>
            <a:off x="661475" y="1342926"/>
            <a:ext cx="5814371" cy="2324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pt-BR" sz="1450" noProof="0" dirty="0">
                <a:solidFill>
                  <a:srgbClr val="403CCF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Paradigma de Interação</a:t>
            </a:r>
            <a:endParaRPr lang="pt-BR" sz="1450" noProof="0" dirty="0"/>
          </a:p>
        </p:txBody>
      </p:sp>
      <p:sp>
        <p:nvSpPr>
          <p:cNvPr id="4" name="Text 2"/>
          <p:cNvSpPr/>
          <p:nvPr/>
        </p:nvSpPr>
        <p:spPr>
          <a:xfrm>
            <a:off x="661475" y="1709341"/>
            <a:ext cx="5814371" cy="113109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7000"/>
              </a:lnSpc>
              <a:buNone/>
            </a:pPr>
            <a:r>
              <a:rPr lang="pt-BR" sz="1150" noProof="0" dirty="0">
                <a:solidFill>
                  <a:srgbClr val="49495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O </a:t>
            </a:r>
            <a:r>
              <a:rPr lang="pt-BR" sz="1150" noProof="0" dirty="0" err="1">
                <a:solidFill>
                  <a:srgbClr val="49495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Lucidchart</a:t>
            </a:r>
            <a:r>
              <a:rPr lang="pt-BR" sz="1150" noProof="0" dirty="0">
                <a:solidFill>
                  <a:srgbClr val="49495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 adota o paradigma </a:t>
            </a:r>
            <a:r>
              <a:rPr lang="pt-BR" sz="1150" b="1" i="1" noProof="0" dirty="0">
                <a:solidFill>
                  <a:srgbClr val="49495A"/>
                </a:solidFill>
                <a:latin typeface="Open Sans Bold" pitchFamily="34" charset="0"/>
                <a:ea typeface="Open Sans Bold" pitchFamily="34" charset="-122"/>
                <a:cs typeface="Open Sans Bold" pitchFamily="34" charset="-120"/>
              </a:rPr>
              <a:t>drag-and-</a:t>
            </a:r>
            <a:r>
              <a:rPr lang="pt-BR" sz="1150" b="1" i="1" noProof="0" dirty="0" err="1">
                <a:solidFill>
                  <a:srgbClr val="49495A"/>
                </a:solidFill>
                <a:latin typeface="Open Sans Bold" pitchFamily="34" charset="0"/>
                <a:ea typeface="Open Sans Bold" pitchFamily="34" charset="-122"/>
                <a:cs typeface="Open Sans Bold" pitchFamily="34" charset="-120"/>
              </a:rPr>
              <a:t>drop</a:t>
            </a:r>
            <a:r>
              <a:rPr lang="pt-BR" sz="1150" noProof="0" dirty="0">
                <a:solidFill>
                  <a:srgbClr val="49495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 (arrastar e soltar) como principal mecanismo de construção de diagramas, permitindo a composição rápida de fluxos sem curva de aprendizado acentuada. Essa escolha de design reduz significativamente a barreira de entrada para usuários sem experiência prévia em modelagem de processos.</a:t>
            </a:r>
            <a:endParaRPr lang="pt-BR" sz="1150" noProof="0" dirty="0"/>
          </a:p>
        </p:txBody>
      </p:sp>
      <p:sp>
        <p:nvSpPr>
          <p:cNvPr id="5" name="Text 3"/>
          <p:cNvSpPr/>
          <p:nvPr/>
        </p:nvSpPr>
        <p:spPr>
          <a:xfrm>
            <a:off x="661475" y="2974380"/>
            <a:ext cx="5814371" cy="2324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pt-BR" sz="1450" noProof="0" dirty="0">
                <a:solidFill>
                  <a:srgbClr val="403CCF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Recursos de Facilidade de Uso</a:t>
            </a:r>
            <a:endParaRPr lang="pt-BR" sz="1450" noProof="0" dirty="0"/>
          </a:p>
        </p:txBody>
      </p:sp>
      <p:grpSp>
        <p:nvGrpSpPr>
          <p:cNvPr id="20" name="Agrupar 19">
            <a:extLst>
              <a:ext uri="{FF2B5EF4-FFF2-40B4-BE49-F238E27FC236}">
                <a16:creationId xmlns:a16="http://schemas.microsoft.com/office/drawing/2014/main" id="{7BD793A3-381B-4735-2680-2D46A8A8E1D2}"/>
              </a:ext>
            </a:extLst>
          </p:cNvPr>
          <p:cNvGrpSpPr/>
          <p:nvPr/>
        </p:nvGrpSpPr>
        <p:grpSpPr>
          <a:xfrm>
            <a:off x="655529" y="3265091"/>
            <a:ext cx="5345574" cy="2758381"/>
            <a:chOff x="1130272" y="3405882"/>
            <a:chExt cx="5345574" cy="2758381"/>
          </a:xfrm>
        </p:grpSpPr>
        <p:sp>
          <p:nvSpPr>
            <p:cNvPr id="7" name="Text 5"/>
            <p:cNvSpPr/>
            <p:nvPr/>
          </p:nvSpPr>
          <p:spPr>
            <a:xfrm>
              <a:off x="1130272" y="3405882"/>
              <a:ext cx="5345574" cy="45243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>
              <a:normAutofit/>
            </a:bodyPr>
            <a:lstStyle/>
            <a:p>
              <a:pPr marL="0" indent="0" algn="l">
                <a:lnSpc>
                  <a:spcPct val="127000"/>
                </a:lnSpc>
                <a:buNone/>
              </a:pPr>
              <a:r>
                <a:rPr lang="pt-BR" sz="1150" b="1" noProof="0" dirty="0">
                  <a:solidFill>
                    <a:srgbClr val="49495A"/>
                  </a:solidFill>
                  <a:latin typeface="Open Sans Bold" pitchFamily="34" charset="0"/>
                  <a:ea typeface="Open Sans Bold" pitchFamily="34" charset="-122"/>
                  <a:cs typeface="Open Sans Bold" pitchFamily="34" charset="-120"/>
                </a:rPr>
                <a:t>Alinhamento automático</a:t>
              </a:r>
              <a:r>
                <a:rPr lang="pt-BR" sz="1150" noProof="0" dirty="0">
                  <a:solidFill>
                    <a:srgbClr val="49495A"/>
                  </a:solidFill>
                  <a:latin typeface="Open Sans" pitchFamily="34" charset="0"/>
                  <a:ea typeface="Open Sans" pitchFamily="34" charset="-122"/>
                  <a:cs typeface="Open Sans" pitchFamily="34" charset="-120"/>
                </a:rPr>
                <a:t> de elementos para manutenção da estética visual e legibilidade do diagrama.</a:t>
              </a:r>
              <a:endParaRPr lang="pt-BR" sz="1150" noProof="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1130272" y="4174530"/>
              <a:ext cx="5345574" cy="45243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>
              <a:normAutofit/>
            </a:bodyPr>
            <a:lstStyle/>
            <a:p>
              <a:pPr marL="0" indent="0" algn="l">
                <a:lnSpc>
                  <a:spcPct val="127000"/>
                </a:lnSpc>
                <a:buNone/>
              </a:pPr>
              <a:r>
                <a:rPr lang="pt-BR" sz="1150" b="1" noProof="0" dirty="0">
                  <a:solidFill>
                    <a:srgbClr val="49495A"/>
                  </a:solidFill>
                  <a:latin typeface="Open Sans" pitchFamily="34" charset="0"/>
                  <a:ea typeface="Open Sans" pitchFamily="34" charset="-122"/>
                  <a:cs typeface="Open Sans" pitchFamily="34" charset="-120"/>
                </a:rPr>
                <a:t>Grade de desenho (</a:t>
              </a:r>
              <a:r>
                <a:rPr lang="pt-BR" sz="1150" b="1" i="1" noProof="0" dirty="0">
                  <a:solidFill>
                    <a:srgbClr val="49495A"/>
                  </a:solidFill>
                  <a:latin typeface="Open Sans Bold" pitchFamily="34" charset="0"/>
                  <a:ea typeface="Open Sans Bold" pitchFamily="34" charset="-122"/>
                  <a:cs typeface="Open Sans Bold" pitchFamily="34" charset="-120"/>
                </a:rPr>
                <a:t>grid</a:t>
              </a:r>
              <a:r>
                <a:rPr lang="pt-BR" sz="1150" b="1" noProof="0" dirty="0">
                  <a:solidFill>
                    <a:srgbClr val="49495A"/>
                  </a:solidFill>
                  <a:latin typeface="Open Sans" pitchFamily="34" charset="0"/>
                  <a:ea typeface="Open Sans" pitchFamily="34" charset="-122"/>
                  <a:cs typeface="Open Sans" pitchFamily="34" charset="-120"/>
                </a:rPr>
                <a:t>)</a:t>
              </a:r>
              <a:r>
                <a:rPr lang="pt-BR" sz="1150" noProof="0" dirty="0">
                  <a:solidFill>
                    <a:srgbClr val="49495A"/>
                  </a:solidFill>
                  <a:latin typeface="Open Sans" pitchFamily="34" charset="0"/>
                  <a:ea typeface="Open Sans" pitchFamily="34" charset="-122"/>
                  <a:cs typeface="Open Sans" pitchFamily="34" charset="-120"/>
                </a:rPr>
                <a:t> para posicionamento preciso de componentes no </a:t>
              </a:r>
              <a:r>
                <a:rPr lang="pt-BR" sz="1150" noProof="0" dirty="0" err="1">
                  <a:solidFill>
                    <a:srgbClr val="49495A"/>
                  </a:solidFill>
                  <a:latin typeface="Open Sans" pitchFamily="34" charset="0"/>
                  <a:ea typeface="Open Sans" pitchFamily="34" charset="-122"/>
                  <a:cs typeface="Open Sans" pitchFamily="34" charset="-120"/>
                </a:rPr>
                <a:t>canvas</a:t>
              </a:r>
              <a:r>
                <a:rPr lang="pt-BR" sz="1150" noProof="0" dirty="0">
                  <a:solidFill>
                    <a:srgbClr val="49495A"/>
                  </a:solidFill>
                  <a:latin typeface="Open Sans" pitchFamily="34" charset="0"/>
                  <a:ea typeface="Open Sans" pitchFamily="34" charset="-122"/>
                  <a:cs typeface="Open Sans" pitchFamily="34" charset="-120"/>
                </a:rPr>
                <a:t>.</a:t>
              </a:r>
              <a:endParaRPr lang="pt-BR" sz="1150" noProof="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1130272" y="4943177"/>
              <a:ext cx="5345574" cy="45243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>
              <a:normAutofit/>
            </a:bodyPr>
            <a:lstStyle/>
            <a:p>
              <a:pPr marL="0" indent="0" algn="l">
                <a:lnSpc>
                  <a:spcPct val="127000"/>
                </a:lnSpc>
                <a:buNone/>
              </a:pPr>
              <a:r>
                <a:rPr lang="pt-BR" sz="1150" b="1" noProof="0" dirty="0">
                  <a:solidFill>
                    <a:srgbClr val="49495A"/>
                  </a:solidFill>
                  <a:latin typeface="Open Sans Bold" pitchFamily="34" charset="0"/>
                  <a:ea typeface="Open Sans Bold" pitchFamily="34" charset="-122"/>
                  <a:cs typeface="Open Sans Bold" pitchFamily="34" charset="-120"/>
                </a:rPr>
                <a:t>Customização flexível</a:t>
              </a:r>
              <a:r>
                <a:rPr lang="pt-BR" sz="1150" noProof="0" dirty="0">
                  <a:solidFill>
                    <a:srgbClr val="49495A"/>
                  </a:solidFill>
                  <a:latin typeface="Open Sans" pitchFamily="34" charset="0"/>
                  <a:ea typeface="Open Sans" pitchFamily="34" charset="-122"/>
                  <a:cs typeface="Open Sans" pitchFamily="34" charset="-120"/>
                </a:rPr>
                <a:t> de cores, estilos e propriedades de formas, sem comprometer a conformidade com o padrão.</a:t>
              </a:r>
              <a:endParaRPr lang="pt-BR" sz="1150" noProof="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1130272" y="5711825"/>
              <a:ext cx="5345574" cy="45243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>
              <a:normAutofit/>
            </a:bodyPr>
            <a:lstStyle/>
            <a:p>
              <a:pPr marL="0" indent="0" algn="l">
                <a:lnSpc>
                  <a:spcPct val="127000"/>
                </a:lnSpc>
                <a:buNone/>
              </a:pPr>
              <a:r>
                <a:rPr lang="pt-BR" sz="1150" b="1" noProof="0" dirty="0">
                  <a:solidFill>
                    <a:srgbClr val="49495A"/>
                  </a:solidFill>
                  <a:latin typeface="Open Sans Bold" pitchFamily="34" charset="0"/>
                  <a:ea typeface="Open Sans Bold" pitchFamily="34" charset="-122"/>
                  <a:cs typeface="Open Sans Bold" pitchFamily="34" charset="-120"/>
                </a:rPr>
                <a:t>Zoom e navegação fluida</a:t>
              </a:r>
              <a:r>
                <a:rPr lang="pt-BR" sz="1150" noProof="0" dirty="0">
                  <a:solidFill>
                    <a:srgbClr val="49495A"/>
                  </a:solidFill>
                  <a:latin typeface="Open Sans" pitchFamily="34" charset="0"/>
                  <a:ea typeface="Open Sans" pitchFamily="34" charset="-122"/>
                  <a:cs typeface="Open Sans" pitchFamily="34" charset="-120"/>
                </a:rPr>
                <a:t> em diagramas de qualquer tamanho e complexidade.</a:t>
              </a:r>
              <a:endParaRPr lang="pt-BR" sz="1150" noProof="0" dirty="0"/>
            </a:p>
          </p:txBody>
        </p:sp>
      </p:grpSp>
      <p:sp>
        <p:nvSpPr>
          <p:cNvPr id="19" name="Retângulo 18">
            <a:extLst>
              <a:ext uri="{FF2B5EF4-FFF2-40B4-BE49-F238E27FC236}">
                <a16:creationId xmlns:a16="http://schemas.microsoft.com/office/drawing/2014/main" id="{FEC3A629-14EC-CF15-F345-EF4191FB39E8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1028218" y="6502400"/>
            <a:ext cx="1089891" cy="277091"/>
          </a:xfrm>
          <a:prstGeom prst="rect">
            <a:avLst/>
          </a:prstGeom>
          <a:solidFill>
            <a:srgbClr val="FBFAFF"/>
          </a:solidFill>
          <a:ln>
            <a:solidFill>
              <a:srgbClr val="FBFA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pic>
        <p:nvPicPr>
          <p:cNvPr id="23" name="Imagem 22">
            <a:extLst>
              <a:ext uri="{FF2B5EF4-FFF2-40B4-BE49-F238E27FC236}">
                <a16:creationId xmlns:a16="http://schemas.microsoft.com/office/drawing/2014/main" id="{203BCBA0-77C4-7E1F-2430-5A75DB2CBC1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75846" y="1501040"/>
            <a:ext cx="5611323" cy="413960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589855"/>
            <a:ext cx="10868745" cy="51673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pt-BR" sz="3250" noProof="0" dirty="0">
                <a:solidFill>
                  <a:srgbClr val="403CCF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Exemplo Prático de Processo Mapeado</a:t>
            </a:r>
            <a:endParaRPr lang="pt-BR" sz="3250" noProof="0" dirty="0"/>
          </a:p>
        </p:txBody>
      </p:sp>
      <p:sp>
        <p:nvSpPr>
          <p:cNvPr id="3" name="Text 1"/>
          <p:cNvSpPr/>
          <p:nvPr/>
        </p:nvSpPr>
        <p:spPr>
          <a:xfrm>
            <a:off x="661475" y="1519932"/>
            <a:ext cx="5232666" cy="25846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pt-BR" sz="1600" noProof="0" dirty="0">
                <a:solidFill>
                  <a:srgbClr val="403CCF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Demonstração Aplicada</a:t>
            </a:r>
            <a:endParaRPr lang="pt-BR" sz="1600" noProof="0" dirty="0"/>
          </a:p>
        </p:txBody>
      </p:sp>
      <p:sp>
        <p:nvSpPr>
          <p:cNvPr id="4" name="Text 2"/>
          <p:cNvSpPr/>
          <p:nvPr/>
        </p:nvSpPr>
        <p:spPr>
          <a:xfrm>
            <a:off x="661475" y="1943695"/>
            <a:ext cx="5232666" cy="5726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pt-BR" sz="1300" noProof="0" dirty="0">
                <a:solidFill>
                  <a:srgbClr val="49495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Apresentação de um processo real modelado pelo grupo utilizando o </a:t>
            </a:r>
            <a:r>
              <a:rPr lang="pt-BR" sz="1300" noProof="0" dirty="0" err="1">
                <a:solidFill>
                  <a:srgbClr val="49495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Lucidchart</a:t>
            </a:r>
            <a:r>
              <a:rPr lang="pt-BR" sz="1300" noProof="0" dirty="0">
                <a:solidFill>
                  <a:srgbClr val="49495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, com aplicação da notação BPMN 2.0. </a:t>
            </a:r>
            <a:endParaRPr lang="pt-BR" sz="1300" noProof="0" dirty="0"/>
          </a:p>
        </p:txBody>
      </p:sp>
      <p:sp>
        <p:nvSpPr>
          <p:cNvPr id="8" name="Text 5"/>
          <p:cNvSpPr/>
          <p:nvPr/>
        </p:nvSpPr>
        <p:spPr>
          <a:xfrm>
            <a:off x="6303904" y="1519932"/>
            <a:ext cx="5232666" cy="25846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pt-BR" sz="1600" noProof="0" dirty="0">
                <a:solidFill>
                  <a:srgbClr val="403CCF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Contribuições da Ferramenta no Processo</a:t>
            </a:r>
            <a:endParaRPr lang="pt-BR" sz="1600" noProof="0" dirty="0"/>
          </a:p>
        </p:txBody>
      </p:sp>
      <p:sp>
        <p:nvSpPr>
          <p:cNvPr id="9" name="Shape 6"/>
          <p:cNvSpPr/>
          <p:nvPr/>
        </p:nvSpPr>
        <p:spPr>
          <a:xfrm>
            <a:off x="6303904" y="1964432"/>
            <a:ext cx="372061" cy="372070"/>
          </a:xfrm>
          <a:prstGeom prst="roundRect">
            <a:avLst>
              <a:gd name="adj" fmla="val 6668"/>
            </a:avLst>
          </a:prstGeom>
          <a:solidFill>
            <a:srgbClr val="EAE8F3"/>
          </a:solidFill>
          <a:ln/>
        </p:spPr>
        <p:txBody>
          <a:bodyPr/>
          <a:lstStyle/>
          <a:p>
            <a:endParaRPr lang="pt-BR" noProof="0" dirty="0"/>
          </a:p>
        </p:txBody>
      </p:sp>
      <p:sp>
        <p:nvSpPr>
          <p:cNvPr id="10" name="Text 7"/>
          <p:cNvSpPr/>
          <p:nvPr/>
        </p:nvSpPr>
        <p:spPr>
          <a:xfrm>
            <a:off x="6365914" y="1995438"/>
            <a:ext cx="248041" cy="31005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pt-BR" sz="1950" noProof="0" dirty="0">
                <a:solidFill>
                  <a:srgbClr val="49495A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1</a:t>
            </a:r>
            <a:endParaRPr lang="pt-BR" sz="1950" noProof="0" dirty="0"/>
          </a:p>
        </p:txBody>
      </p:sp>
      <p:sp>
        <p:nvSpPr>
          <p:cNvPr id="11" name="Text 8"/>
          <p:cNvSpPr/>
          <p:nvPr/>
        </p:nvSpPr>
        <p:spPr>
          <a:xfrm>
            <a:off x="6841259" y="2018109"/>
            <a:ext cx="4695311" cy="79384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pt-BR" sz="1300" b="1" noProof="0" dirty="0">
                <a:solidFill>
                  <a:srgbClr val="49495A"/>
                </a:solidFill>
                <a:latin typeface="Open Sans Bold" pitchFamily="34" charset="0"/>
                <a:ea typeface="Open Sans Bold" pitchFamily="34" charset="-122"/>
                <a:cs typeface="Open Sans Bold" pitchFamily="34" charset="-120"/>
              </a:rPr>
              <a:t>Facilidade na construção</a:t>
            </a:r>
            <a:r>
              <a:rPr lang="pt-BR" sz="1300" noProof="0" dirty="0">
                <a:solidFill>
                  <a:srgbClr val="49495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 do fluxo através da interface intuitiva de </a:t>
            </a:r>
            <a:r>
              <a:rPr lang="pt-BR" sz="1300" i="1" noProof="0" dirty="0">
                <a:solidFill>
                  <a:srgbClr val="49495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drag-and-</a:t>
            </a:r>
            <a:r>
              <a:rPr lang="pt-BR" sz="1300" i="1" noProof="0" dirty="0" err="1">
                <a:solidFill>
                  <a:srgbClr val="49495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drop</a:t>
            </a:r>
            <a:r>
              <a:rPr lang="pt-BR" sz="1300" noProof="0" dirty="0">
                <a:solidFill>
                  <a:srgbClr val="49495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, sem necessidade de conhecimento técnico avançado.</a:t>
            </a:r>
            <a:endParaRPr lang="pt-BR" sz="1300" noProof="0" dirty="0"/>
          </a:p>
        </p:txBody>
      </p:sp>
      <p:sp>
        <p:nvSpPr>
          <p:cNvPr id="12" name="Shape 9"/>
          <p:cNvSpPr/>
          <p:nvPr/>
        </p:nvSpPr>
        <p:spPr>
          <a:xfrm>
            <a:off x="6303904" y="3142655"/>
            <a:ext cx="372061" cy="372070"/>
          </a:xfrm>
          <a:prstGeom prst="roundRect">
            <a:avLst>
              <a:gd name="adj" fmla="val 6668"/>
            </a:avLst>
          </a:prstGeom>
          <a:solidFill>
            <a:srgbClr val="EAE8F3"/>
          </a:solidFill>
          <a:ln/>
        </p:spPr>
        <p:txBody>
          <a:bodyPr/>
          <a:lstStyle/>
          <a:p>
            <a:endParaRPr lang="pt-BR" noProof="0" dirty="0"/>
          </a:p>
        </p:txBody>
      </p:sp>
      <p:sp>
        <p:nvSpPr>
          <p:cNvPr id="13" name="Text 10"/>
          <p:cNvSpPr/>
          <p:nvPr/>
        </p:nvSpPr>
        <p:spPr>
          <a:xfrm>
            <a:off x="6365914" y="3173661"/>
            <a:ext cx="248041" cy="31005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pt-BR" sz="1950" noProof="0" dirty="0">
                <a:solidFill>
                  <a:srgbClr val="49495A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2</a:t>
            </a:r>
            <a:endParaRPr lang="pt-BR" sz="1950" noProof="0" dirty="0"/>
          </a:p>
        </p:txBody>
      </p:sp>
      <p:sp>
        <p:nvSpPr>
          <p:cNvPr id="14" name="Text 11"/>
          <p:cNvSpPr/>
          <p:nvPr/>
        </p:nvSpPr>
        <p:spPr>
          <a:xfrm>
            <a:off x="6841259" y="3196332"/>
            <a:ext cx="4695311" cy="79384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pt-BR" sz="1300" b="1" noProof="0" dirty="0">
                <a:solidFill>
                  <a:srgbClr val="49495A"/>
                </a:solidFill>
                <a:latin typeface="Open Sans Bold" pitchFamily="34" charset="0"/>
                <a:ea typeface="Open Sans Bold" pitchFamily="34" charset="-122"/>
                <a:cs typeface="Open Sans Bold" pitchFamily="34" charset="-120"/>
              </a:rPr>
              <a:t>Clareza visual</a:t>
            </a:r>
            <a:r>
              <a:rPr lang="pt-BR" sz="1300" noProof="0" dirty="0">
                <a:solidFill>
                  <a:srgbClr val="49495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 obtida pela aplicação rigorosa* da notação BPMN 2.0, garantindo comunicação precisa e não ambígua do processo.</a:t>
            </a:r>
            <a:endParaRPr lang="pt-BR" sz="1300" noProof="0" dirty="0"/>
          </a:p>
        </p:txBody>
      </p:sp>
      <p:sp>
        <p:nvSpPr>
          <p:cNvPr id="15" name="Shape 12"/>
          <p:cNvSpPr/>
          <p:nvPr/>
        </p:nvSpPr>
        <p:spPr>
          <a:xfrm>
            <a:off x="6303904" y="4320877"/>
            <a:ext cx="372061" cy="372070"/>
          </a:xfrm>
          <a:prstGeom prst="roundRect">
            <a:avLst>
              <a:gd name="adj" fmla="val 6668"/>
            </a:avLst>
          </a:prstGeom>
          <a:solidFill>
            <a:srgbClr val="EAE8F3"/>
          </a:solidFill>
          <a:ln/>
        </p:spPr>
        <p:txBody>
          <a:bodyPr/>
          <a:lstStyle/>
          <a:p>
            <a:endParaRPr lang="pt-BR" noProof="0" dirty="0"/>
          </a:p>
        </p:txBody>
      </p:sp>
      <p:sp>
        <p:nvSpPr>
          <p:cNvPr id="16" name="Text 13"/>
          <p:cNvSpPr/>
          <p:nvPr/>
        </p:nvSpPr>
        <p:spPr>
          <a:xfrm>
            <a:off x="6365914" y="4351883"/>
            <a:ext cx="248041" cy="31005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pt-BR" sz="1950" noProof="0" dirty="0">
                <a:solidFill>
                  <a:srgbClr val="49495A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3</a:t>
            </a:r>
            <a:endParaRPr lang="pt-BR" sz="1950" noProof="0" dirty="0"/>
          </a:p>
        </p:txBody>
      </p:sp>
      <p:sp>
        <p:nvSpPr>
          <p:cNvPr id="17" name="Text 14"/>
          <p:cNvSpPr/>
          <p:nvPr/>
        </p:nvSpPr>
        <p:spPr>
          <a:xfrm>
            <a:off x="6841259" y="4374555"/>
            <a:ext cx="4695311" cy="52923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pt-BR" sz="1300" b="1" noProof="0" dirty="0">
                <a:solidFill>
                  <a:srgbClr val="49495A"/>
                </a:solidFill>
                <a:latin typeface="Open Sans Bold" pitchFamily="34" charset="0"/>
                <a:ea typeface="Open Sans Bold" pitchFamily="34" charset="-122"/>
                <a:cs typeface="Open Sans Bold" pitchFamily="34" charset="-120"/>
              </a:rPr>
              <a:t>Iteração rápida</a:t>
            </a:r>
            <a:r>
              <a:rPr lang="pt-BR" sz="1300" noProof="0" dirty="0">
                <a:solidFill>
                  <a:srgbClr val="49495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 e realização de ajustes sem necessidade de reconstrução completa do diagrama.</a:t>
            </a:r>
            <a:endParaRPr lang="pt-BR" sz="1300" noProof="0" dirty="0"/>
          </a:p>
        </p:txBody>
      </p:sp>
      <p:sp>
        <p:nvSpPr>
          <p:cNvPr id="18" name="Shape 15"/>
          <p:cNvSpPr/>
          <p:nvPr/>
        </p:nvSpPr>
        <p:spPr>
          <a:xfrm>
            <a:off x="6303904" y="5234484"/>
            <a:ext cx="372061" cy="372070"/>
          </a:xfrm>
          <a:prstGeom prst="roundRect">
            <a:avLst>
              <a:gd name="adj" fmla="val 6668"/>
            </a:avLst>
          </a:prstGeom>
          <a:solidFill>
            <a:srgbClr val="EAE8F3"/>
          </a:solidFill>
          <a:ln/>
        </p:spPr>
        <p:txBody>
          <a:bodyPr/>
          <a:lstStyle/>
          <a:p>
            <a:endParaRPr lang="pt-BR" noProof="0" dirty="0"/>
          </a:p>
        </p:txBody>
      </p:sp>
      <p:sp>
        <p:nvSpPr>
          <p:cNvPr id="19" name="Text 16"/>
          <p:cNvSpPr/>
          <p:nvPr/>
        </p:nvSpPr>
        <p:spPr>
          <a:xfrm>
            <a:off x="6365914" y="5265489"/>
            <a:ext cx="248041" cy="31005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pt-BR" sz="1950" noProof="0" dirty="0">
                <a:solidFill>
                  <a:srgbClr val="49495A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4</a:t>
            </a:r>
            <a:endParaRPr lang="pt-BR" sz="1950" noProof="0" dirty="0"/>
          </a:p>
        </p:txBody>
      </p:sp>
      <p:sp>
        <p:nvSpPr>
          <p:cNvPr id="20" name="Text 17"/>
          <p:cNvSpPr/>
          <p:nvPr/>
        </p:nvSpPr>
        <p:spPr>
          <a:xfrm>
            <a:off x="6841259" y="5288161"/>
            <a:ext cx="4695311" cy="79384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pt-BR" sz="1300" b="1" noProof="0" dirty="0">
                <a:solidFill>
                  <a:srgbClr val="49495A"/>
                </a:solidFill>
                <a:latin typeface="Open Sans Bold" pitchFamily="34" charset="0"/>
                <a:ea typeface="Open Sans Bold" pitchFamily="34" charset="-122"/>
                <a:cs typeface="Open Sans Bold" pitchFamily="34" charset="-120"/>
              </a:rPr>
              <a:t>Documentação automática</a:t>
            </a:r>
            <a:r>
              <a:rPr lang="pt-BR" sz="1300" noProof="0" dirty="0">
                <a:solidFill>
                  <a:srgbClr val="49495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 do processo com símbolos padronizados, resultando em diagrama profissional e compreensível por diferentes públicos.</a:t>
            </a:r>
            <a:endParaRPr lang="pt-BR" sz="1300" noProof="0" dirty="0"/>
          </a:p>
        </p:txBody>
      </p:sp>
      <p:sp>
        <p:nvSpPr>
          <p:cNvPr id="22" name="Retângulo 21">
            <a:extLst>
              <a:ext uri="{FF2B5EF4-FFF2-40B4-BE49-F238E27FC236}">
                <a16:creationId xmlns:a16="http://schemas.microsoft.com/office/drawing/2014/main" id="{4943525D-66E3-BCBC-F750-1F0330D28263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1028218" y="6502400"/>
            <a:ext cx="1089891" cy="277091"/>
          </a:xfrm>
          <a:prstGeom prst="rect">
            <a:avLst/>
          </a:prstGeom>
          <a:solidFill>
            <a:srgbClr val="FBFAFF"/>
          </a:solidFill>
          <a:ln>
            <a:solidFill>
              <a:srgbClr val="FBFA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7C065AC2-E4A4-4344-13DF-B9A8F338252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3287" y="2462478"/>
            <a:ext cx="5820250" cy="4292995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B5004A-706F-259B-43C1-619C3FBB7F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766114CD-39C4-16C6-1CD9-7F6E74500520}"/>
              </a:ext>
            </a:extLst>
          </p:cNvPr>
          <p:cNvSpPr/>
          <p:nvPr/>
        </p:nvSpPr>
        <p:spPr>
          <a:xfrm>
            <a:off x="661475" y="542925"/>
            <a:ext cx="10868745" cy="46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pt-BR" sz="2900" noProof="0" dirty="0">
                <a:solidFill>
                  <a:srgbClr val="403CCF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Modelos prontos para uso – Galeria de Modelos</a:t>
            </a:r>
            <a:endParaRPr lang="pt-BR" sz="2900" noProof="0" dirty="0"/>
          </a:p>
        </p:txBody>
      </p:sp>
      <p:sp>
        <p:nvSpPr>
          <p:cNvPr id="19" name="Retângulo 18">
            <a:extLst>
              <a:ext uri="{FF2B5EF4-FFF2-40B4-BE49-F238E27FC236}">
                <a16:creationId xmlns:a16="http://schemas.microsoft.com/office/drawing/2014/main" id="{22076E08-9EB7-2804-3A7B-DFFE802E61AE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1028218" y="6502400"/>
            <a:ext cx="1089891" cy="277091"/>
          </a:xfrm>
          <a:prstGeom prst="rect">
            <a:avLst/>
          </a:prstGeom>
          <a:solidFill>
            <a:srgbClr val="FBFAFF"/>
          </a:solidFill>
          <a:ln>
            <a:solidFill>
              <a:srgbClr val="FBFA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pic>
        <p:nvPicPr>
          <p:cNvPr id="12" name="Imagem 11">
            <a:extLst>
              <a:ext uri="{FF2B5EF4-FFF2-40B4-BE49-F238E27FC236}">
                <a16:creationId xmlns:a16="http://schemas.microsoft.com/office/drawing/2014/main" id="{83ACB628-0C34-6D32-9C9F-BF4E70AE913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303" y="1008063"/>
            <a:ext cx="11824788" cy="56629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6300078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E82CB1-64C0-7BDF-624C-3B883EDA2A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0C28FD15-55CB-B737-20CC-FB08B11D1F99}"/>
              </a:ext>
            </a:extLst>
          </p:cNvPr>
          <p:cNvSpPr/>
          <p:nvPr/>
        </p:nvSpPr>
        <p:spPr>
          <a:xfrm>
            <a:off x="661475" y="542925"/>
            <a:ext cx="10868745" cy="46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04000"/>
              </a:lnSpc>
            </a:pPr>
            <a:r>
              <a:rPr lang="pt-BR" sz="2900" noProof="0" dirty="0">
                <a:solidFill>
                  <a:srgbClr val="403CCF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Modelos prontos para uso – Galeria de Modelos</a:t>
            </a:r>
            <a:endParaRPr lang="pt-BR" sz="2900" noProof="0" dirty="0"/>
          </a:p>
        </p:txBody>
      </p:sp>
      <p:sp>
        <p:nvSpPr>
          <p:cNvPr id="19" name="Retângulo 18">
            <a:extLst>
              <a:ext uri="{FF2B5EF4-FFF2-40B4-BE49-F238E27FC236}">
                <a16:creationId xmlns:a16="http://schemas.microsoft.com/office/drawing/2014/main" id="{E0887BC9-25FC-DEB1-2C80-D21FEC2A1775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1028218" y="6502400"/>
            <a:ext cx="1089891" cy="277091"/>
          </a:xfrm>
          <a:prstGeom prst="rect">
            <a:avLst/>
          </a:prstGeom>
          <a:solidFill>
            <a:srgbClr val="FBFAFF"/>
          </a:solidFill>
          <a:ln>
            <a:solidFill>
              <a:srgbClr val="FBFA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B96A83C7-8F12-BE44-C4E4-E97B88C5977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8693" y="984029"/>
            <a:ext cx="11774614" cy="57954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0298115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426792-BED5-A144-505E-83E49F67D0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1D27D57E-7699-ACF6-DC3C-7F7D2A6DD3B3}"/>
              </a:ext>
            </a:extLst>
          </p:cNvPr>
          <p:cNvSpPr/>
          <p:nvPr/>
        </p:nvSpPr>
        <p:spPr>
          <a:xfrm>
            <a:off x="661475" y="542925"/>
            <a:ext cx="10868745" cy="46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04000"/>
              </a:lnSpc>
            </a:pPr>
            <a:r>
              <a:rPr lang="pt-BR" sz="2900" noProof="0" dirty="0">
                <a:solidFill>
                  <a:srgbClr val="403CCF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Modelos prontos para uso – Galeria de Modelos</a:t>
            </a:r>
            <a:endParaRPr lang="pt-BR" sz="2900" noProof="0" dirty="0"/>
          </a:p>
        </p:txBody>
      </p:sp>
      <p:sp>
        <p:nvSpPr>
          <p:cNvPr id="19" name="Retângulo 18">
            <a:extLst>
              <a:ext uri="{FF2B5EF4-FFF2-40B4-BE49-F238E27FC236}">
                <a16:creationId xmlns:a16="http://schemas.microsoft.com/office/drawing/2014/main" id="{D70DCAE7-374C-A8D4-B9AC-53EC659CDF17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1028218" y="6502400"/>
            <a:ext cx="1089891" cy="277091"/>
          </a:xfrm>
          <a:prstGeom prst="rect">
            <a:avLst/>
          </a:prstGeom>
          <a:solidFill>
            <a:srgbClr val="FBFAFF"/>
          </a:solidFill>
          <a:ln>
            <a:solidFill>
              <a:srgbClr val="FBFA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pic>
        <p:nvPicPr>
          <p:cNvPr id="6" name="Imagem 5">
            <a:extLst>
              <a:ext uri="{FF2B5EF4-FFF2-40B4-BE49-F238E27FC236}">
                <a16:creationId xmlns:a16="http://schemas.microsoft.com/office/drawing/2014/main" id="{7AE5D7AD-9CFB-8233-D021-3F64C2D5024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5239" y="1008063"/>
            <a:ext cx="10828035" cy="58116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906865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516930"/>
            <a:ext cx="10868745" cy="50065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pt-BR" sz="3150" noProof="0" dirty="0">
                <a:solidFill>
                  <a:srgbClr val="403CCF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Integração de Inteligência Artificial</a:t>
            </a:r>
            <a:endParaRPr lang="pt-BR" sz="3150" noProof="0" dirty="0"/>
          </a:p>
        </p:txBody>
      </p:sp>
      <p:sp>
        <p:nvSpPr>
          <p:cNvPr id="3" name="Text 1"/>
          <p:cNvSpPr/>
          <p:nvPr/>
        </p:nvSpPr>
        <p:spPr>
          <a:xfrm>
            <a:off x="661475" y="1327944"/>
            <a:ext cx="10868745" cy="5046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1000"/>
              </a:lnSpc>
              <a:buNone/>
            </a:pPr>
            <a:r>
              <a:rPr lang="pt-BR" sz="1250" noProof="0" dirty="0">
                <a:solidFill>
                  <a:srgbClr val="49495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O </a:t>
            </a:r>
            <a:r>
              <a:rPr lang="pt-BR" sz="1250" noProof="0" dirty="0" err="1">
                <a:solidFill>
                  <a:srgbClr val="49495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Lucidchart</a:t>
            </a:r>
            <a:r>
              <a:rPr lang="pt-BR" sz="1250" noProof="0" dirty="0">
                <a:solidFill>
                  <a:srgbClr val="49495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 incorpora recursos de </a:t>
            </a:r>
            <a:r>
              <a:rPr lang="pt-BR" sz="1250" b="1" noProof="0" dirty="0">
                <a:solidFill>
                  <a:srgbClr val="49495A"/>
                </a:solidFill>
                <a:latin typeface="Open Sans Bold" pitchFamily="34" charset="0"/>
                <a:ea typeface="Open Sans Bold" pitchFamily="34" charset="-122"/>
                <a:cs typeface="Open Sans Bold" pitchFamily="34" charset="-120"/>
              </a:rPr>
              <a:t>inteligência artificial</a:t>
            </a:r>
            <a:r>
              <a:rPr lang="pt-BR" sz="1250" noProof="0" dirty="0">
                <a:solidFill>
                  <a:srgbClr val="49495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 que representam um avanço significativo na automação de tarefas de modelagem, posicionando a ferramenta na vanguarda do mercado de gestão de processos.</a:t>
            </a:r>
            <a:endParaRPr lang="pt-BR" sz="1250" noProof="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61475" y="2007096"/>
            <a:ext cx="400536" cy="400546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61475" y="2601615"/>
            <a:ext cx="3493603" cy="50065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pt-BR" sz="1550" noProof="0" dirty="0">
                <a:solidFill>
                  <a:srgbClr val="49495A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Geração Automática de Diagramas</a:t>
            </a:r>
            <a:endParaRPr lang="pt-BR" sz="1550" noProof="0" dirty="0"/>
          </a:p>
        </p:txBody>
      </p:sp>
      <p:sp>
        <p:nvSpPr>
          <p:cNvPr id="6" name="Text 3"/>
          <p:cNvSpPr/>
          <p:nvPr/>
        </p:nvSpPr>
        <p:spPr>
          <a:xfrm>
            <a:off x="661475" y="3195340"/>
            <a:ext cx="3493603" cy="126156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1000"/>
              </a:lnSpc>
              <a:buNone/>
            </a:pPr>
            <a:r>
              <a:rPr lang="pt-BR" sz="1250" noProof="0" dirty="0">
                <a:solidFill>
                  <a:srgbClr val="49495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 IA é capaz de criar estruturas de processos completas a partir de </a:t>
            </a:r>
            <a:r>
              <a:rPr lang="pt-BR" sz="1250" b="1" noProof="0" dirty="0">
                <a:solidFill>
                  <a:srgbClr val="49495A"/>
                </a:solidFill>
                <a:latin typeface="Open Sans Bold" pitchFamily="34" charset="0"/>
                <a:ea typeface="Open Sans Bold" pitchFamily="34" charset="-122"/>
                <a:cs typeface="Open Sans Bold" pitchFamily="34" charset="-120"/>
              </a:rPr>
              <a:t>descrições textuais em linguagem natural</a:t>
            </a:r>
            <a:r>
              <a:rPr lang="pt-BR" sz="1250" noProof="0" dirty="0">
                <a:solidFill>
                  <a:srgbClr val="49495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, reduzindo substancialmente o trabalho manual de construção inicial do diagrama.</a:t>
            </a:r>
            <a:endParaRPr lang="pt-BR" sz="1250" noProof="0" dirty="0"/>
          </a:p>
        </p:txBody>
      </p:sp>
      <p:pic>
        <p:nvPicPr>
          <p:cNvPr id="7" name="Image 1" descr="preencoded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349046" y="2007096"/>
            <a:ext cx="400536" cy="400546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4349046" y="2601615"/>
            <a:ext cx="3493603" cy="25032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pt-BR" sz="1550" noProof="0" dirty="0">
                <a:solidFill>
                  <a:srgbClr val="49495A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Sumarização de Processos</a:t>
            </a:r>
            <a:endParaRPr lang="pt-BR" sz="1550" noProof="0" dirty="0"/>
          </a:p>
        </p:txBody>
      </p:sp>
      <p:sp>
        <p:nvSpPr>
          <p:cNvPr id="9" name="Text 5"/>
          <p:cNvSpPr/>
          <p:nvPr/>
        </p:nvSpPr>
        <p:spPr>
          <a:xfrm>
            <a:off x="4349046" y="2945011"/>
            <a:ext cx="3493603" cy="100925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1000"/>
              </a:lnSpc>
              <a:buNone/>
            </a:pPr>
            <a:r>
              <a:rPr lang="pt-BR" sz="1250" noProof="0" dirty="0">
                <a:solidFill>
                  <a:srgbClr val="49495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Análise automática de fluxos complexos com </a:t>
            </a:r>
            <a:r>
              <a:rPr lang="pt-BR" sz="1250" b="1" noProof="0" dirty="0">
                <a:solidFill>
                  <a:srgbClr val="49495A"/>
                </a:solidFill>
                <a:latin typeface="Open Sans Bold" pitchFamily="34" charset="0"/>
                <a:ea typeface="Open Sans Bold" pitchFamily="34" charset="-122"/>
                <a:cs typeface="Open Sans Bold" pitchFamily="34" charset="-120"/>
              </a:rPr>
              <a:t>geração de resumos executivos</a:t>
            </a:r>
            <a:r>
              <a:rPr lang="pt-BR" sz="1250" noProof="0" dirty="0">
                <a:solidFill>
                  <a:srgbClr val="49495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, facilitando a comunicação dos processos modelados para diferentes públicos e níveis hierárquicos.</a:t>
            </a:r>
            <a:endParaRPr lang="pt-BR" sz="1250" noProof="0" dirty="0"/>
          </a:p>
        </p:txBody>
      </p:sp>
      <p:pic>
        <p:nvPicPr>
          <p:cNvPr id="10" name="Image 2" descr="preencoded.png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036617" y="2007096"/>
            <a:ext cx="400536" cy="400546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8036617" y="2601615"/>
            <a:ext cx="3493603" cy="25032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pt-BR" sz="1550" noProof="0" dirty="0">
                <a:solidFill>
                  <a:srgbClr val="49495A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Sugestões de Otimização</a:t>
            </a:r>
            <a:endParaRPr lang="pt-BR" sz="1550" noProof="0" dirty="0"/>
          </a:p>
        </p:txBody>
      </p:sp>
      <p:sp>
        <p:nvSpPr>
          <p:cNvPr id="12" name="Text 7"/>
          <p:cNvSpPr/>
          <p:nvPr/>
        </p:nvSpPr>
        <p:spPr>
          <a:xfrm>
            <a:off x="8036617" y="2945011"/>
            <a:ext cx="3493603" cy="100925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1000"/>
              </a:lnSpc>
              <a:buNone/>
            </a:pPr>
            <a:r>
              <a:rPr lang="pt-BR" sz="1250" noProof="0" dirty="0">
                <a:solidFill>
                  <a:srgbClr val="49495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Recomendações inteligentes para </a:t>
            </a:r>
            <a:r>
              <a:rPr lang="pt-BR" sz="1250" b="1" noProof="0" dirty="0">
                <a:solidFill>
                  <a:srgbClr val="49495A"/>
                </a:solidFill>
                <a:latin typeface="Open Sans Bold" pitchFamily="34" charset="0"/>
                <a:ea typeface="Open Sans Bold" pitchFamily="34" charset="-122"/>
                <a:cs typeface="Open Sans Bold" pitchFamily="34" charset="-120"/>
              </a:rPr>
              <a:t>melhorias no fluxo</a:t>
            </a:r>
            <a:r>
              <a:rPr lang="pt-BR" sz="1250" noProof="0" dirty="0">
                <a:solidFill>
                  <a:srgbClr val="49495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 e eliminação de redundâncias, apoiando o analista de processos na identificação de ineficiências.</a:t>
            </a:r>
            <a:endParaRPr lang="pt-BR" sz="1250" noProof="0" dirty="0"/>
          </a:p>
        </p:txBody>
      </p:sp>
      <p:sp>
        <p:nvSpPr>
          <p:cNvPr id="13" name="Shape 8"/>
          <p:cNvSpPr/>
          <p:nvPr/>
        </p:nvSpPr>
        <p:spPr>
          <a:xfrm>
            <a:off x="546086" y="4631432"/>
            <a:ext cx="5469694" cy="1709539"/>
          </a:xfrm>
          <a:prstGeom prst="roundRect">
            <a:avLst>
              <a:gd name="adj" fmla="val 1406"/>
            </a:avLst>
          </a:prstGeom>
          <a:solidFill>
            <a:srgbClr val="D7D6F5"/>
          </a:solidFill>
          <a:ln/>
        </p:spPr>
        <p:txBody>
          <a:bodyPr/>
          <a:lstStyle/>
          <a:p>
            <a:endParaRPr lang="pt-BR" noProof="0" dirty="0"/>
          </a:p>
        </p:txBody>
      </p:sp>
      <p:sp>
        <p:nvSpPr>
          <p:cNvPr id="14" name="Text 9"/>
          <p:cNvSpPr/>
          <p:nvPr/>
        </p:nvSpPr>
        <p:spPr>
          <a:xfrm>
            <a:off x="706221" y="4786610"/>
            <a:ext cx="5149424" cy="25032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pt-BR" sz="1550" noProof="0" dirty="0"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Impacto na Produtividade</a:t>
            </a:r>
            <a:endParaRPr lang="pt-BR" sz="1550" noProof="0" dirty="0"/>
          </a:p>
        </p:txBody>
      </p:sp>
      <p:sp>
        <p:nvSpPr>
          <p:cNvPr id="15" name="Text 10"/>
          <p:cNvSpPr/>
          <p:nvPr/>
        </p:nvSpPr>
        <p:spPr>
          <a:xfrm>
            <a:off x="706221" y="5192117"/>
            <a:ext cx="5149424" cy="100925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1000"/>
              </a:lnSpc>
              <a:buNone/>
            </a:pPr>
            <a:r>
              <a:rPr lang="pt-BR" sz="1250" noProof="0" dirty="0">
                <a:latin typeface="Open Sans" pitchFamily="34" charset="0"/>
                <a:ea typeface="Open Sans" pitchFamily="34" charset="-122"/>
                <a:cs typeface="Open Sans" pitchFamily="34" charset="-120"/>
              </a:rPr>
              <a:t>Os recursos de IA otimizam significativamente o tempo do analista de processos, </a:t>
            </a:r>
            <a:r>
              <a:rPr lang="pt-BR" sz="1250" b="1" noProof="0" dirty="0">
                <a:latin typeface="Open Sans Bold" pitchFamily="34" charset="0"/>
                <a:ea typeface="Open Sans Bold" pitchFamily="34" charset="-122"/>
                <a:cs typeface="Open Sans Bold" pitchFamily="34" charset="-120"/>
              </a:rPr>
              <a:t>permitindo foco na análise crítica</a:t>
            </a:r>
            <a:r>
              <a:rPr lang="pt-BR" sz="1250" noProof="0" dirty="0">
                <a:latin typeface="Open Sans" pitchFamily="34" charset="0"/>
                <a:ea typeface="Open Sans" pitchFamily="34" charset="-122"/>
                <a:cs typeface="Open Sans" pitchFamily="34" charset="-120"/>
              </a:rPr>
              <a:t> e tomada de decisão estratégica, em vez de despender esforço na construção manual de diagramas.</a:t>
            </a:r>
            <a:endParaRPr lang="pt-BR" sz="1250" noProof="0" dirty="0"/>
          </a:p>
        </p:txBody>
      </p:sp>
      <p:sp>
        <p:nvSpPr>
          <p:cNvPr id="16" name="Text 11"/>
          <p:cNvSpPr/>
          <p:nvPr/>
        </p:nvSpPr>
        <p:spPr>
          <a:xfrm>
            <a:off x="6297653" y="4786610"/>
            <a:ext cx="5238917" cy="25032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pt-BR" sz="1550" noProof="0" dirty="0">
                <a:solidFill>
                  <a:srgbClr val="403CCF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Relevância no Mercado</a:t>
            </a:r>
            <a:endParaRPr lang="pt-BR" sz="1550" noProof="0" dirty="0"/>
          </a:p>
        </p:txBody>
      </p:sp>
      <p:sp>
        <p:nvSpPr>
          <p:cNvPr id="17" name="Text 12"/>
          <p:cNvSpPr/>
          <p:nvPr/>
        </p:nvSpPr>
        <p:spPr>
          <a:xfrm>
            <a:off x="6297653" y="5192117"/>
            <a:ext cx="5238917" cy="100925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1000"/>
              </a:lnSpc>
              <a:buNone/>
            </a:pPr>
            <a:r>
              <a:rPr lang="pt-BR" sz="1250" noProof="0" dirty="0">
                <a:solidFill>
                  <a:srgbClr val="49495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 integração de IA posiciona o </a:t>
            </a:r>
            <a:r>
              <a:rPr lang="pt-BR" sz="1250" noProof="0" dirty="0" err="1">
                <a:solidFill>
                  <a:srgbClr val="49495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Lucidchart</a:t>
            </a:r>
            <a:r>
              <a:rPr lang="pt-BR" sz="1250" noProof="0" dirty="0">
                <a:solidFill>
                  <a:srgbClr val="49495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 como </a:t>
            </a:r>
            <a:r>
              <a:rPr lang="pt-BR" sz="1250" b="1" noProof="0" dirty="0">
                <a:solidFill>
                  <a:srgbClr val="49495A"/>
                </a:solidFill>
                <a:latin typeface="Open Sans Bold" pitchFamily="34" charset="0"/>
                <a:ea typeface="Open Sans Bold" pitchFamily="34" charset="-122"/>
                <a:cs typeface="Open Sans Bold" pitchFamily="34" charset="-120"/>
              </a:rPr>
              <a:t>ferramenta de vanguarda</a:t>
            </a:r>
            <a:r>
              <a:rPr lang="pt-BR" sz="1250" noProof="0" dirty="0">
                <a:solidFill>
                  <a:srgbClr val="49495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 no segmento de modelagem de processos, diferenciando-o de concorrentes que ainda dependem exclusivamente de operação manual.</a:t>
            </a:r>
            <a:endParaRPr lang="pt-BR" sz="1250" noProof="0" dirty="0"/>
          </a:p>
        </p:txBody>
      </p:sp>
      <p:sp>
        <p:nvSpPr>
          <p:cNvPr id="19" name="Retângulo 18">
            <a:extLst>
              <a:ext uri="{FF2B5EF4-FFF2-40B4-BE49-F238E27FC236}">
                <a16:creationId xmlns:a16="http://schemas.microsoft.com/office/drawing/2014/main" id="{B181F73B-86A8-2BC2-CFE8-B65635A9B3CD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1028218" y="6502400"/>
            <a:ext cx="1089891" cy="277091"/>
          </a:xfrm>
          <a:prstGeom prst="rect">
            <a:avLst/>
          </a:prstGeom>
          <a:solidFill>
            <a:srgbClr val="FBFAFF"/>
          </a:solidFill>
          <a:ln>
            <a:solidFill>
              <a:srgbClr val="FBFA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40E769-1FCB-8455-FE1E-2B76A07BCA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D91AD312-2374-2FED-1C72-4703D09396B3}"/>
              </a:ext>
            </a:extLst>
          </p:cNvPr>
          <p:cNvSpPr/>
          <p:nvPr/>
        </p:nvSpPr>
        <p:spPr>
          <a:xfrm>
            <a:off x="661475" y="511671"/>
            <a:ext cx="10868745" cy="45789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pt-BR" sz="2850" noProof="0" dirty="0">
                <a:solidFill>
                  <a:srgbClr val="403CCF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Exemplo de modelagem com IA</a:t>
            </a:r>
            <a:endParaRPr lang="pt-BR" sz="2850" noProof="0" dirty="0"/>
          </a:p>
        </p:txBody>
      </p:sp>
      <p:sp>
        <p:nvSpPr>
          <p:cNvPr id="23" name="Retângulo 22">
            <a:extLst>
              <a:ext uri="{FF2B5EF4-FFF2-40B4-BE49-F238E27FC236}">
                <a16:creationId xmlns:a16="http://schemas.microsoft.com/office/drawing/2014/main" id="{07BE6BAF-9B79-CC2A-D626-5BFE33C12083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1028218" y="6502400"/>
            <a:ext cx="1089891" cy="277091"/>
          </a:xfrm>
          <a:prstGeom prst="rect">
            <a:avLst/>
          </a:prstGeom>
          <a:solidFill>
            <a:srgbClr val="FBFAFF"/>
          </a:solidFill>
          <a:ln>
            <a:solidFill>
              <a:srgbClr val="FBFA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pic>
        <p:nvPicPr>
          <p:cNvPr id="21" name="Imagem 20">
            <a:extLst>
              <a:ext uri="{FF2B5EF4-FFF2-40B4-BE49-F238E27FC236}">
                <a16:creationId xmlns:a16="http://schemas.microsoft.com/office/drawing/2014/main" id="{34EA4FBD-E6AA-8AA9-430A-8119F439694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365" t="28108" r="19296" b="3251"/>
          <a:stretch/>
        </p:blipFill>
        <p:spPr>
          <a:xfrm>
            <a:off x="80544" y="1483743"/>
            <a:ext cx="12030605" cy="47350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2711753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741263"/>
            <a:ext cx="10868745" cy="4392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pt-BR" sz="2750" noProof="0" dirty="0">
                <a:solidFill>
                  <a:srgbClr val="403CCF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Modelo de Precificação</a:t>
            </a:r>
            <a:endParaRPr lang="pt-BR" sz="2750" noProof="0" dirty="0"/>
          </a:p>
        </p:txBody>
      </p:sp>
      <p:sp>
        <p:nvSpPr>
          <p:cNvPr id="3" name="Text 1"/>
          <p:cNvSpPr/>
          <p:nvPr/>
        </p:nvSpPr>
        <p:spPr>
          <a:xfrm>
            <a:off x="661475" y="1419423"/>
            <a:ext cx="11478330" cy="20806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3000"/>
              </a:lnSpc>
              <a:buNone/>
            </a:pPr>
            <a:r>
              <a:rPr lang="pt-BR" sz="1100" noProof="0" dirty="0">
                <a:solidFill>
                  <a:srgbClr val="49495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O </a:t>
            </a:r>
            <a:r>
              <a:rPr lang="pt-BR" sz="1100" noProof="0" dirty="0" err="1">
                <a:solidFill>
                  <a:srgbClr val="49495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Lucidchart</a:t>
            </a:r>
            <a:r>
              <a:rPr lang="pt-BR" sz="1100" noProof="0" dirty="0">
                <a:solidFill>
                  <a:srgbClr val="49495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 adota um modelo </a:t>
            </a:r>
            <a:r>
              <a:rPr lang="pt-BR" sz="1100" b="1" i="1" noProof="0" dirty="0" err="1">
                <a:solidFill>
                  <a:srgbClr val="49495A"/>
                </a:solidFill>
                <a:latin typeface="Open Sans Bold" pitchFamily="34" charset="0"/>
                <a:ea typeface="Open Sans Bold" pitchFamily="34" charset="-122"/>
                <a:cs typeface="Open Sans Bold" pitchFamily="34" charset="-120"/>
              </a:rPr>
              <a:t>freemium</a:t>
            </a:r>
            <a:r>
              <a:rPr lang="pt-BR" sz="1100" noProof="0" dirty="0">
                <a:solidFill>
                  <a:srgbClr val="49495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, com diferentes níveis de acesso que atendem a perfis distintos de usuários — desde estudantes até grandes organizações.</a:t>
            </a:r>
            <a:endParaRPr lang="pt-BR" sz="1100" noProof="0" dirty="0"/>
          </a:p>
        </p:txBody>
      </p:sp>
      <p:sp>
        <p:nvSpPr>
          <p:cNvPr id="4" name="Shape 2"/>
          <p:cNvSpPr/>
          <p:nvPr/>
        </p:nvSpPr>
        <p:spPr>
          <a:xfrm>
            <a:off x="661475" y="1761827"/>
            <a:ext cx="10868745" cy="3030438"/>
          </a:xfrm>
          <a:prstGeom prst="roundRect">
            <a:avLst>
              <a:gd name="adj" fmla="val 696"/>
            </a:avLst>
          </a:prstGeom>
          <a:solidFill>
            <a:srgbClr val="EAE8F3"/>
          </a:solidFill>
          <a:ln/>
        </p:spPr>
        <p:txBody>
          <a:bodyPr/>
          <a:lstStyle/>
          <a:p>
            <a:endParaRPr lang="pt-BR" noProof="0" dirty="0"/>
          </a:p>
        </p:txBody>
      </p:sp>
      <p:sp>
        <p:nvSpPr>
          <p:cNvPr id="5" name="Shape 3"/>
          <p:cNvSpPr/>
          <p:nvPr/>
        </p:nvSpPr>
        <p:spPr>
          <a:xfrm>
            <a:off x="661475" y="1761827"/>
            <a:ext cx="5434373" cy="1744166"/>
          </a:xfrm>
          <a:custGeom>
            <a:avLst/>
            <a:gdLst/>
            <a:ahLst/>
            <a:cxnLst/>
            <a:rect l="l" t="t" r="r" b="b"/>
            <a:pathLst>
              <a:path w="5434373" h="1744166">
                <a:moveTo>
                  <a:pt x="17573" y="0"/>
                </a:moveTo>
                <a:lnTo>
                  <a:pt x="5434373" y="0"/>
                </a:lnTo>
                <a:lnTo>
                  <a:pt x="5434373" y="1744166"/>
                </a:lnTo>
                <a:lnTo>
                  <a:pt x="0" y="1744166"/>
                </a:lnTo>
                <a:lnTo>
                  <a:pt x="0" y="17573"/>
                </a:lnTo>
                <a:arcTo wR="17573" hR="17573" stAng="10800000" swAng="5400000"/>
                <a:close/>
              </a:path>
            </a:pathLst>
          </a:custGeom>
          <a:solidFill>
            <a:srgbClr val="EAE8F3"/>
          </a:solidFill>
          <a:ln/>
        </p:spPr>
        <p:txBody>
          <a:bodyPr/>
          <a:lstStyle/>
          <a:p>
            <a:endParaRPr lang="pt-BR" noProof="0" dirty="0"/>
          </a:p>
        </p:txBody>
      </p:sp>
      <p:sp>
        <p:nvSpPr>
          <p:cNvPr id="6" name="Text 4"/>
          <p:cNvSpPr/>
          <p:nvPr/>
        </p:nvSpPr>
        <p:spPr>
          <a:xfrm>
            <a:off x="801965" y="1902321"/>
            <a:ext cx="5153392" cy="22592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pt-BR" sz="1350" noProof="0" dirty="0">
                <a:solidFill>
                  <a:srgbClr val="000000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🆓</a:t>
            </a:r>
            <a:r>
              <a:rPr lang="pt-BR" sz="1350" noProof="0" dirty="0">
                <a:solidFill>
                  <a:srgbClr val="49495A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 Plano Gratuito</a:t>
            </a:r>
            <a:endParaRPr lang="pt-BR" sz="1350" noProof="0" dirty="0"/>
          </a:p>
        </p:txBody>
      </p:sp>
      <p:sp>
        <p:nvSpPr>
          <p:cNvPr id="7" name="Text 5"/>
          <p:cNvSpPr/>
          <p:nvPr/>
        </p:nvSpPr>
        <p:spPr>
          <a:xfrm>
            <a:off x="801965" y="2199878"/>
            <a:ext cx="5153392" cy="116562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223520" indent="-223520" algn="l">
              <a:lnSpc>
                <a:spcPct val="123000"/>
              </a:lnSpc>
              <a:buSzPct val="100000"/>
              <a:buChar char="•"/>
            </a:pPr>
            <a:r>
              <a:rPr lang="pt-BR" sz="1100" noProof="0" dirty="0">
                <a:solidFill>
                  <a:srgbClr val="49495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Limite de </a:t>
            </a:r>
            <a:r>
              <a:rPr lang="pt-BR" sz="1100" b="1" noProof="0" dirty="0">
                <a:solidFill>
                  <a:srgbClr val="49495A"/>
                </a:solidFill>
                <a:latin typeface="Open Sans Bold" pitchFamily="34" charset="0"/>
                <a:ea typeface="Open Sans Bold" pitchFamily="34" charset="-122"/>
                <a:cs typeface="Open Sans Bold" pitchFamily="34" charset="-120"/>
              </a:rPr>
              <a:t>até 5 diagramas</a:t>
            </a:r>
            <a:r>
              <a:rPr lang="pt-BR" sz="1100" noProof="0" dirty="0">
                <a:solidFill>
                  <a:srgbClr val="49495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 simultâneos</a:t>
            </a:r>
            <a:endParaRPr lang="pt-BR" sz="1100" noProof="0" dirty="0"/>
          </a:p>
          <a:p>
            <a:pPr marL="223520" indent="-223520" algn="l">
              <a:lnSpc>
                <a:spcPct val="123000"/>
              </a:lnSpc>
              <a:buSzPct val="100000"/>
              <a:buChar char="•"/>
            </a:pPr>
            <a:r>
              <a:rPr lang="pt-BR" sz="1100" noProof="0" dirty="0">
                <a:solidFill>
                  <a:srgbClr val="49495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Restrições no número de objetos por diagrama</a:t>
            </a:r>
            <a:endParaRPr lang="pt-BR" sz="1100" noProof="0" dirty="0"/>
          </a:p>
          <a:p>
            <a:pPr marL="223520" indent="-223520" algn="l">
              <a:lnSpc>
                <a:spcPct val="123000"/>
              </a:lnSpc>
              <a:buSzPct val="100000"/>
              <a:buChar char="•"/>
            </a:pPr>
            <a:r>
              <a:rPr lang="pt-BR" sz="1100" noProof="0" dirty="0">
                <a:solidFill>
                  <a:srgbClr val="49495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Funcionalidades básicas de colaboração</a:t>
            </a:r>
            <a:endParaRPr lang="pt-BR" sz="1100" noProof="0" dirty="0"/>
          </a:p>
          <a:p>
            <a:pPr marL="223520" indent="-223520" algn="l">
              <a:lnSpc>
                <a:spcPct val="123000"/>
              </a:lnSpc>
              <a:buSzPct val="100000"/>
              <a:buChar char="•"/>
            </a:pPr>
            <a:r>
              <a:rPr lang="pt-BR" sz="1100" noProof="0" dirty="0">
                <a:solidFill>
                  <a:srgbClr val="49495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Adequado para </a:t>
            </a:r>
            <a:r>
              <a:rPr lang="pt-BR" sz="1100" b="1" noProof="0" dirty="0">
                <a:solidFill>
                  <a:srgbClr val="49495A"/>
                </a:solidFill>
                <a:latin typeface="Open Sans Bold" pitchFamily="34" charset="0"/>
                <a:ea typeface="Open Sans Bold" pitchFamily="34" charset="-122"/>
                <a:cs typeface="Open Sans Bold" pitchFamily="34" charset="-120"/>
              </a:rPr>
              <a:t>uso educacional inicial</a:t>
            </a:r>
            <a:r>
              <a:rPr lang="pt-BR" sz="1100" noProof="0" dirty="0">
                <a:solidFill>
                  <a:srgbClr val="49495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 e prototipagem de processos simples</a:t>
            </a:r>
            <a:endParaRPr lang="pt-BR" sz="1100" noProof="0" dirty="0"/>
          </a:p>
        </p:txBody>
      </p:sp>
      <p:sp>
        <p:nvSpPr>
          <p:cNvPr id="8" name="Shape 6"/>
          <p:cNvSpPr/>
          <p:nvPr/>
        </p:nvSpPr>
        <p:spPr>
          <a:xfrm>
            <a:off x="6095848" y="1761827"/>
            <a:ext cx="5434373" cy="1744166"/>
          </a:xfrm>
          <a:custGeom>
            <a:avLst/>
            <a:gdLst/>
            <a:ahLst/>
            <a:cxnLst/>
            <a:rect l="l" t="t" r="r" b="b"/>
            <a:pathLst>
              <a:path w="5434373" h="1744166">
                <a:moveTo>
                  <a:pt x="0" y="0"/>
                </a:moveTo>
                <a:lnTo>
                  <a:pt x="5416800" y="0"/>
                </a:lnTo>
                <a:arcTo wR="17573" hR="17573" stAng="16200000" swAng="5400000"/>
                <a:lnTo>
                  <a:pt x="5434373" y="1744166"/>
                </a:lnTo>
                <a:lnTo>
                  <a:pt x="0" y="1744166"/>
                </a:lnTo>
                <a:lnTo>
                  <a:pt x="0" y="0"/>
                </a:lnTo>
                <a:close/>
              </a:path>
            </a:pathLst>
          </a:custGeom>
          <a:solidFill>
            <a:srgbClr val="EAE8F3"/>
          </a:solidFill>
          <a:ln/>
        </p:spPr>
        <p:txBody>
          <a:bodyPr/>
          <a:lstStyle/>
          <a:p>
            <a:endParaRPr lang="pt-BR" noProof="0" dirty="0"/>
          </a:p>
        </p:txBody>
      </p:sp>
      <p:sp>
        <p:nvSpPr>
          <p:cNvPr id="9" name="Shape 7"/>
          <p:cNvSpPr/>
          <p:nvPr/>
        </p:nvSpPr>
        <p:spPr>
          <a:xfrm>
            <a:off x="6095848" y="1761827"/>
            <a:ext cx="19050" cy="1744166"/>
          </a:xfrm>
          <a:prstGeom prst="roundRect">
            <a:avLst>
              <a:gd name="adj" fmla="val 49999"/>
            </a:avLst>
          </a:prstGeom>
          <a:solidFill>
            <a:srgbClr val="D0CED9"/>
          </a:solidFill>
          <a:ln/>
        </p:spPr>
        <p:txBody>
          <a:bodyPr/>
          <a:lstStyle/>
          <a:p>
            <a:endParaRPr lang="pt-BR" noProof="0" dirty="0"/>
          </a:p>
        </p:txBody>
      </p:sp>
      <p:sp>
        <p:nvSpPr>
          <p:cNvPr id="10" name="Text 8"/>
          <p:cNvSpPr/>
          <p:nvPr/>
        </p:nvSpPr>
        <p:spPr>
          <a:xfrm>
            <a:off x="6236338" y="1902321"/>
            <a:ext cx="5153392" cy="22592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pt-BR" sz="1350" noProof="0" dirty="0">
                <a:solidFill>
                  <a:srgbClr val="000000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👤</a:t>
            </a:r>
            <a:r>
              <a:rPr lang="pt-BR" sz="1350" noProof="0" dirty="0">
                <a:solidFill>
                  <a:srgbClr val="49495A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 Individual</a:t>
            </a:r>
            <a:endParaRPr lang="pt-BR" sz="1350" noProof="0" dirty="0"/>
          </a:p>
        </p:txBody>
      </p:sp>
      <p:sp>
        <p:nvSpPr>
          <p:cNvPr id="11" name="Text 9"/>
          <p:cNvSpPr/>
          <p:nvPr/>
        </p:nvSpPr>
        <p:spPr>
          <a:xfrm>
            <a:off x="6236338" y="2199878"/>
            <a:ext cx="5153392" cy="7077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223520" indent="-223520" algn="l">
              <a:lnSpc>
                <a:spcPct val="123000"/>
              </a:lnSpc>
              <a:buSzPct val="100000"/>
              <a:buChar char="•"/>
            </a:pPr>
            <a:r>
              <a:rPr lang="pt-BR" sz="1100" noProof="0" dirty="0">
                <a:solidFill>
                  <a:srgbClr val="49495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Acesso </a:t>
            </a:r>
            <a:r>
              <a:rPr lang="pt-BR" sz="1100" b="1" noProof="0" dirty="0">
                <a:solidFill>
                  <a:srgbClr val="49495A"/>
                </a:solidFill>
                <a:latin typeface="Open Sans Bold" pitchFamily="34" charset="0"/>
                <a:ea typeface="Open Sans Bold" pitchFamily="34" charset="-122"/>
                <a:cs typeface="Open Sans Bold" pitchFamily="34" charset="-120"/>
              </a:rPr>
              <a:t>ilimitado a documentos</a:t>
            </a:r>
            <a:endParaRPr lang="pt-BR" sz="1100" noProof="0" dirty="0"/>
          </a:p>
          <a:p>
            <a:pPr marL="223520" indent="-223520" algn="l">
              <a:lnSpc>
                <a:spcPct val="123000"/>
              </a:lnSpc>
              <a:buSzPct val="100000"/>
              <a:buChar char="•"/>
            </a:pPr>
            <a:r>
              <a:rPr lang="pt-BR" sz="1100" noProof="0" dirty="0">
                <a:solidFill>
                  <a:srgbClr val="49495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Todas as formas e bibliotecas disponíveis</a:t>
            </a:r>
            <a:endParaRPr lang="pt-BR" sz="1100" noProof="0" dirty="0"/>
          </a:p>
          <a:p>
            <a:pPr marL="223520" indent="-223520" algn="l">
              <a:lnSpc>
                <a:spcPct val="123000"/>
              </a:lnSpc>
              <a:buSzPct val="100000"/>
              <a:buChar char="•"/>
            </a:pPr>
            <a:r>
              <a:rPr lang="pt-BR" sz="1100" noProof="0" dirty="0">
                <a:solidFill>
                  <a:srgbClr val="49495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Ideal para </a:t>
            </a:r>
            <a:r>
              <a:rPr lang="pt-BR" sz="1100" b="1" noProof="0" dirty="0">
                <a:solidFill>
                  <a:srgbClr val="49495A"/>
                </a:solidFill>
                <a:latin typeface="Open Sans Bold" pitchFamily="34" charset="0"/>
                <a:ea typeface="Open Sans Bold" pitchFamily="34" charset="-122"/>
                <a:cs typeface="Open Sans Bold" pitchFamily="34" charset="-120"/>
              </a:rPr>
              <a:t>profissionais autônomos</a:t>
            </a:r>
            <a:r>
              <a:rPr lang="pt-BR" sz="1100" noProof="0" dirty="0">
                <a:solidFill>
                  <a:srgbClr val="49495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 e consultores</a:t>
            </a:r>
            <a:endParaRPr lang="pt-BR" sz="1100" noProof="0" dirty="0"/>
          </a:p>
        </p:txBody>
      </p:sp>
      <p:sp>
        <p:nvSpPr>
          <p:cNvPr id="12" name="Shape 10"/>
          <p:cNvSpPr/>
          <p:nvPr/>
        </p:nvSpPr>
        <p:spPr>
          <a:xfrm>
            <a:off x="661475" y="3505994"/>
            <a:ext cx="5434373" cy="1286272"/>
          </a:xfrm>
          <a:custGeom>
            <a:avLst/>
            <a:gdLst/>
            <a:ahLst/>
            <a:cxnLst/>
            <a:rect l="l" t="t" r="r" b="b"/>
            <a:pathLst>
              <a:path w="5434373" h="1286272">
                <a:moveTo>
                  <a:pt x="0" y="0"/>
                </a:moveTo>
                <a:lnTo>
                  <a:pt x="5434373" y="0"/>
                </a:lnTo>
                <a:lnTo>
                  <a:pt x="5434373" y="1286272"/>
                </a:lnTo>
                <a:lnTo>
                  <a:pt x="17573" y="1286272"/>
                </a:lnTo>
                <a:arcTo wR="17573" hR="17573" stAng="5400000" swAng="5400000"/>
                <a:lnTo>
                  <a:pt x="0" y="0"/>
                </a:lnTo>
                <a:close/>
              </a:path>
            </a:pathLst>
          </a:custGeom>
          <a:solidFill>
            <a:srgbClr val="EAE8F3"/>
          </a:solidFill>
          <a:ln/>
        </p:spPr>
        <p:txBody>
          <a:bodyPr/>
          <a:lstStyle/>
          <a:p>
            <a:endParaRPr lang="pt-BR" noProof="0" dirty="0"/>
          </a:p>
        </p:txBody>
      </p:sp>
      <p:sp>
        <p:nvSpPr>
          <p:cNvPr id="13" name="Shape 11"/>
          <p:cNvSpPr/>
          <p:nvPr/>
        </p:nvSpPr>
        <p:spPr>
          <a:xfrm>
            <a:off x="661475" y="3505994"/>
            <a:ext cx="5434373" cy="19050"/>
          </a:xfrm>
          <a:prstGeom prst="roundRect">
            <a:avLst>
              <a:gd name="adj" fmla="val 49999"/>
            </a:avLst>
          </a:prstGeom>
          <a:solidFill>
            <a:srgbClr val="D0CED9"/>
          </a:solidFill>
          <a:ln/>
        </p:spPr>
        <p:txBody>
          <a:bodyPr/>
          <a:lstStyle/>
          <a:p>
            <a:endParaRPr lang="pt-BR" noProof="0" dirty="0"/>
          </a:p>
        </p:txBody>
      </p:sp>
      <p:sp>
        <p:nvSpPr>
          <p:cNvPr id="14" name="Text 12"/>
          <p:cNvSpPr/>
          <p:nvPr/>
        </p:nvSpPr>
        <p:spPr>
          <a:xfrm>
            <a:off x="801965" y="3646488"/>
            <a:ext cx="5153392" cy="22592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pt-BR" sz="1350" noProof="0" dirty="0">
                <a:solidFill>
                  <a:srgbClr val="000000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👥</a:t>
            </a:r>
            <a:r>
              <a:rPr lang="pt-BR" sz="1350" noProof="0" dirty="0">
                <a:solidFill>
                  <a:srgbClr val="49495A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 Equipe</a:t>
            </a:r>
            <a:endParaRPr lang="pt-BR" sz="1350" noProof="0" dirty="0"/>
          </a:p>
        </p:txBody>
      </p:sp>
      <p:sp>
        <p:nvSpPr>
          <p:cNvPr id="15" name="Text 13"/>
          <p:cNvSpPr/>
          <p:nvPr/>
        </p:nvSpPr>
        <p:spPr>
          <a:xfrm>
            <a:off x="801965" y="3944045"/>
            <a:ext cx="5153392" cy="7077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223520" indent="-223520" algn="l">
              <a:lnSpc>
                <a:spcPct val="123000"/>
              </a:lnSpc>
              <a:buSzPct val="100000"/>
              <a:buChar char="•"/>
            </a:pPr>
            <a:r>
              <a:rPr lang="pt-BR" sz="1100" noProof="0" dirty="0">
                <a:solidFill>
                  <a:srgbClr val="49495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Colaboração avançada entre membros</a:t>
            </a:r>
            <a:endParaRPr lang="pt-BR" sz="1100" noProof="0" dirty="0"/>
          </a:p>
          <a:p>
            <a:pPr marL="223520" indent="-223520" algn="l">
              <a:lnSpc>
                <a:spcPct val="123000"/>
              </a:lnSpc>
              <a:buSzPct val="100000"/>
              <a:buChar char="•"/>
            </a:pPr>
            <a:r>
              <a:rPr lang="pt-BR" sz="1100" noProof="0" dirty="0">
                <a:solidFill>
                  <a:srgbClr val="49495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Gerenciamento de permissões por projeto</a:t>
            </a:r>
            <a:endParaRPr lang="pt-BR" sz="1100" noProof="0" dirty="0"/>
          </a:p>
          <a:p>
            <a:pPr marL="223520" indent="-223520" algn="l">
              <a:lnSpc>
                <a:spcPct val="123000"/>
              </a:lnSpc>
              <a:buSzPct val="100000"/>
              <a:buChar char="•"/>
            </a:pPr>
            <a:r>
              <a:rPr lang="pt-BR" sz="1100" b="1" noProof="0" dirty="0">
                <a:solidFill>
                  <a:srgbClr val="49495A"/>
                </a:solidFill>
                <a:latin typeface="Open Sans Bold" pitchFamily="34" charset="0"/>
                <a:ea typeface="Open Sans Bold" pitchFamily="34" charset="-122"/>
                <a:cs typeface="Open Sans Bold" pitchFamily="34" charset="-120"/>
              </a:rPr>
              <a:t>Espaços compartilhados</a:t>
            </a:r>
            <a:r>
              <a:rPr lang="pt-BR" sz="1100" noProof="0" dirty="0">
                <a:solidFill>
                  <a:srgbClr val="49495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 para times</a:t>
            </a:r>
            <a:endParaRPr lang="pt-BR" sz="1100" noProof="0" dirty="0"/>
          </a:p>
        </p:txBody>
      </p:sp>
      <p:sp>
        <p:nvSpPr>
          <p:cNvPr id="16" name="Shape 14"/>
          <p:cNvSpPr/>
          <p:nvPr/>
        </p:nvSpPr>
        <p:spPr>
          <a:xfrm>
            <a:off x="6095848" y="3505994"/>
            <a:ext cx="5434373" cy="1286272"/>
          </a:xfrm>
          <a:custGeom>
            <a:avLst/>
            <a:gdLst/>
            <a:ahLst/>
            <a:cxnLst/>
            <a:rect l="l" t="t" r="r" b="b"/>
            <a:pathLst>
              <a:path w="5434373" h="1286272">
                <a:moveTo>
                  <a:pt x="0" y="0"/>
                </a:moveTo>
                <a:lnTo>
                  <a:pt x="5434373" y="0"/>
                </a:lnTo>
                <a:lnTo>
                  <a:pt x="5434373" y="1268699"/>
                </a:lnTo>
                <a:arcTo wR="17573" hR="17573" stAng="0" swAng="5400000"/>
                <a:lnTo>
                  <a:pt x="0" y="1286272"/>
                </a:lnTo>
                <a:lnTo>
                  <a:pt x="0" y="0"/>
                </a:lnTo>
                <a:close/>
              </a:path>
            </a:pathLst>
          </a:custGeom>
          <a:solidFill>
            <a:srgbClr val="EAE8F3"/>
          </a:solidFill>
          <a:ln/>
        </p:spPr>
        <p:txBody>
          <a:bodyPr/>
          <a:lstStyle/>
          <a:p>
            <a:endParaRPr lang="pt-BR" noProof="0" dirty="0"/>
          </a:p>
        </p:txBody>
      </p:sp>
      <p:sp>
        <p:nvSpPr>
          <p:cNvPr id="17" name="Shape 15"/>
          <p:cNvSpPr/>
          <p:nvPr/>
        </p:nvSpPr>
        <p:spPr>
          <a:xfrm>
            <a:off x="6095848" y="3505994"/>
            <a:ext cx="19050" cy="1286272"/>
          </a:xfrm>
          <a:prstGeom prst="roundRect">
            <a:avLst>
              <a:gd name="adj" fmla="val 49999"/>
            </a:avLst>
          </a:prstGeom>
          <a:solidFill>
            <a:srgbClr val="D0CED9"/>
          </a:solidFill>
          <a:ln/>
        </p:spPr>
        <p:txBody>
          <a:bodyPr/>
          <a:lstStyle/>
          <a:p>
            <a:endParaRPr lang="pt-BR" noProof="0" dirty="0"/>
          </a:p>
        </p:txBody>
      </p:sp>
      <p:sp>
        <p:nvSpPr>
          <p:cNvPr id="18" name="Shape 16"/>
          <p:cNvSpPr/>
          <p:nvPr/>
        </p:nvSpPr>
        <p:spPr>
          <a:xfrm>
            <a:off x="6095848" y="3505994"/>
            <a:ext cx="5434373" cy="19050"/>
          </a:xfrm>
          <a:prstGeom prst="roundRect">
            <a:avLst>
              <a:gd name="adj" fmla="val 49999"/>
            </a:avLst>
          </a:prstGeom>
          <a:solidFill>
            <a:srgbClr val="D0CED9"/>
          </a:solidFill>
          <a:ln/>
        </p:spPr>
        <p:txBody>
          <a:bodyPr/>
          <a:lstStyle/>
          <a:p>
            <a:endParaRPr lang="pt-BR" noProof="0" dirty="0"/>
          </a:p>
        </p:txBody>
      </p:sp>
      <p:sp>
        <p:nvSpPr>
          <p:cNvPr id="19" name="Text 17"/>
          <p:cNvSpPr/>
          <p:nvPr/>
        </p:nvSpPr>
        <p:spPr>
          <a:xfrm>
            <a:off x="6236338" y="3646488"/>
            <a:ext cx="5153392" cy="22592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pt-BR" sz="1350" noProof="0" dirty="0">
                <a:solidFill>
                  <a:srgbClr val="000000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🏢</a:t>
            </a:r>
            <a:r>
              <a:rPr lang="pt-BR" sz="1350" noProof="0" dirty="0">
                <a:solidFill>
                  <a:srgbClr val="49495A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 Corporativo</a:t>
            </a:r>
            <a:endParaRPr lang="pt-BR" sz="1350" noProof="0" dirty="0"/>
          </a:p>
        </p:txBody>
      </p:sp>
      <p:sp>
        <p:nvSpPr>
          <p:cNvPr id="20" name="Text 18"/>
          <p:cNvSpPr/>
          <p:nvPr/>
        </p:nvSpPr>
        <p:spPr>
          <a:xfrm>
            <a:off x="6236338" y="3944045"/>
            <a:ext cx="5153392" cy="7077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223520" indent="-223520" algn="l">
              <a:lnSpc>
                <a:spcPct val="123000"/>
              </a:lnSpc>
              <a:buSzPct val="100000"/>
              <a:buChar char="•"/>
            </a:pPr>
            <a:r>
              <a:rPr lang="pt-BR" sz="1100" noProof="0" dirty="0">
                <a:solidFill>
                  <a:srgbClr val="49495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Recursos empresariais completos</a:t>
            </a:r>
            <a:endParaRPr lang="pt-BR" sz="1100" noProof="0" dirty="0"/>
          </a:p>
          <a:p>
            <a:pPr marL="223520" indent="-223520" algn="l">
              <a:lnSpc>
                <a:spcPct val="123000"/>
              </a:lnSpc>
              <a:buSzPct val="100000"/>
              <a:buChar char="•"/>
            </a:pPr>
            <a:r>
              <a:rPr lang="pt-BR" sz="1100" noProof="0" dirty="0">
                <a:solidFill>
                  <a:srgbClr val="49495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SSO (</a:t>
            </a:r>
            <a:r>
              <a:rPr lang="pt-BR" sz="1100" i="1" noProof="0" dirty="0">
                <a:solidFill>
                  <a:srgbClr val="49495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Single </a:t>
            </a:r>
            <a:r>
              <a:rPr lang="pt-BR" sz="1100" i="1" noProof="0" dirty="0" err="1">
                <a:solidFill>
                  <a:srgbClr val="49495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Sign-On</a:t>
            </a:r>
            <a:r>
              <a:rPr lang="pt-BR" sz="1100" noProof="0" dirty="0">
                <a:solidFill>
                  <a:srgbClr val="49495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) e segurança avançada</a:t>
            </a:r>
            <a:endParaRPr lang="pt-BR" sz="1100" noProof="0" dirty="0"/>
          </a:p>
          <a:p>
            <a:pPr marL="223520" indent="-223520" algn="l">
              <a:lnSpc>
                <a:spcPct val="123000"/>
              </a:lnSpc>
              <a:buSzPct val="100000"/>
              <a:buChar char="•"/>
            </a:pPr>
            <a:r>
              <a:rPr lang="pt-BR" sz="1100" noProof="0" dirty="0">
                <a:solidFill>
                  <a:srgbClr val="49495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Suporte prioritário e </a:t>
            </a:r>
            <a:r>
              <a:rPr lang="pt-BR" sz="1100" b="1" noProof="0" dirty="0">
                <a:solidFill>
                  <a:srgbClr val="49495A"/>
                </a:solidFill>
                <a:latin typeface="Open Sans Bold" pitchFamily="34" charset="0"/>
                <a:ea typeface="Open Sans Bold" pitchFamily="34" charset="-122"/>
                <a:cs typeface="Open Sans Bold" pitchFamily="34" charset="-120"/>
              </a:rPr>
              <a:t>customizações</a:t>
            </a:r>
            <a:endParaRPr lang="pt-BR" sz="1100" noProof="0" dirty="0"/>
          </a:p>
        </p:txBody>
      </p:sp>
      <p:sp>
        <p:nvSpPr>
          <p:cNvPr id="21" name="Text 19"/>
          <p:cNvSpPr/>
          <p:nvPr/>
        </p:nvSpPr>
        <p:spPr>
          <a:xfrm>
            <a:off x="661475" y="5046067"/>
            <a:ext cx="5262927" cy="21957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pt-BR" sz="1350" noProof="0" dirty="0">
                <a:solidFill>
                  <a:srgbClr val="403CCF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Para Estudantes</a:t>
            </a:r>
            <a:endParaRPr lang="pt-BR" sz="1350" noProof="0" dirty="0"/>
          </a:p>
        </p:txBody>
      </p:sp>
      <p:sp>
        <p:nvSpPr>
          <p:cNvPr id="22" name="Text 20"/>
          <p:cNvSpPr/>
          <p:nvPr/>
        </p:nvSpPr>
        <p:spPr>
          <a:xfrm>
            <a:off x="661475" y="5385098"/>
            <a:ext cx="5262927" cy="62418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3000"/>
              </a:lnSpc>
              <a:buNone/>
            </a:pPr>
            <a:r>
              <a:rPr lang="pt-BR" sz="1100" noProof="0" dirty="0">
                <a:solidFill>
                  <a:srgbClr val="49495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O plano gratuito oferece </a:t>
            </a:r>
            <a:r>
              <a:rPr lang="pt-BR" sz="1100" b="1" noProof="0" dirty="0">
                <a:solidFill>
                  <a:srgbClr val="49495A"/>
                </a:solidFill>
                <a:latin typeface="Open Sans Bold" pitchFamily="34" charset="0"/>
                <a:ea typeface="Open Sans Bold" pitchFamily="34" charset="-122"/>
                <a:cs typeface="Open Sans Bold" pitchFamily="34" charset="-120"/>
              </a:rPr>
              <a:t>funcionalidades suficientes</a:t>
            </a:r>
            <a:r>
              <a:rPr lang="pt-BR" sz="1100" noProof="0" dirty="0">
                <a:solidFill>
                  <a:srgbClr val="49495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 para a realização de atividades acadêmicas, com limitações aceitáveis para o contexto educacional e de aprendizagem.</a:t>
            </a:r>
            <a:endParaRPr lang="pt-BR" sz="1100" noProof="0" dirty="0"/>
          </a:p>
        </p:txBody>
      </p:sp>
      <p:sp>
        <p:nvSpPr>
          <p:cNvPr id="23" name="Text 21"/>
          <p:cNvSpPr/>
          <p:nvPr/>
        </p:nvSpPr>
        <p:spPr>
          <a:xfrm>
            <a:off x="6273643" y="5046067"/>
            <a:ext cx="5262927" cy="21957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pt-BR" sz="1350" noProof="0" dirty="0">
                <a:solidFill>
                  <a:srgbClr val="403CCF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Para Empresas</a:t>
            </a:r>
            <a:endParaRPr lang="pt-BR" sz="1350" noProof="0" dirty="0"/>
          </a:p>
        </p:txBody>
      </p:sp>
      <p:sp>
        <p:nvSpPr>
          <p:cNvPr id="24" name="Text 22"/>
          <p:cNvSpPr/>
          <p:nvPr/>
        </p:nvSpPr>
        <p:spPr>
          <a:xfrm>
            <a:off x="6273643" y="5385098"/>
            <a:ext cx="5262927" cy="62418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3000"/>
              </a:lnSpc>
              <a:buNone/>
            </a:pPr>
            <a:r>
              <a:rPr lang="pt-BR" sz="1100" noProof="0" dirty="0">
                <a:solidFill>
                  <a:srgbClr val="49495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O investimento nos planos pagos é </a:t>
            </a:r>
            <a:r>
              <a:rPr lang="pt-BR" sz="1100" b="1" noProof="0" dirty="0">
                <a:solidFill>
                  <a:srgbClr val="49495A"/>
                </a:solidFill>
                <a:latin typeface="Open Sans Bold" pitchFamily="34" charset="0"/>
                <a:ea typeface="Open Sans Bold" pitchFamily="34" charset="-122"/>
                <a:cs typeface="Open Sans Bold" pitchFamily="34" charset="-120"/>
              </a:rPr>
              <a:t>justificado pela produtividade</a:t>
            </a:r>
            <a:r>
              <a:rPr lang="pt-BR" sz="1100" noProof="0" dirty="0">
                <a:solidFill>
                  <a:srgbClr val="49495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, pela colaboração em escala, pela conformidade com padrões internacionais e pela integração com sistemas corporativos existentes.</a:t>
            </a:r>
            <a:endParaRPr lang="pt-BR" sz="1100" noProof="0" dirty="0"/>
          </a:p>
        </p:txBody>
      </p:sp>
      <p:sp>
        <p:nvSpPr>
          <p:cNvPr id="26" name="Retângulo 25">
            <a:extLst>
              <a:ext uri="{FF2B5EF4-FFF2-40B4-BE49-F238E27FC236}">
                <a16:creationId xmlns:a16="http://schemas.microsoft.com/office/drawing/2014/main" id="{1BD1A2F7-6FCE-6D03-C6D3-2DD0A1815626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1028218" y="6502400"/>
            <a:ext cx="1089891" cy="277091"/>
          </a:xfrm>
          <a:prstGeom prst="rect">
            <a:avLst/>
          </a:prstGeom>
          <a:solidFill>
            <a:srgbClr val="FBFAFF"/>
          </a:solidFill>
          <a:ln>
            <a:solidFill>
              <a:srgbClr val="FBFA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17DCCB-4BE1-E128-3243-333D388FFF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55A0E635-503F-6D8D-439A-F3A1A093AAE5}"/>
              </a:ext>
            </a:extLst>
          </p:cNvPr>
          <p:cNvSpPr/>
          <p:nvPr/>
        </p:nvSpPr>
        <p:spPr>
          <a:xfrm>
            <a:off x="661475" y="741263"/>
            <a:ext cx="10868745" cy="4392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pt-BR" sz="2750" noProof="0" dirty="0">
                <a:solidFill>
                  <a:srgbClr val="403CCF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Modelo de Precificação</a:t>
            </a:r>
            <a:endParaRPr lang="pt-BR" sz="2750" noProof="0" dirty="0"/>
          </a:p>
        </p:txBody>
      </p:sp>
      <p:sp>
        <p:nvSpPr>
          <p:cNvPr id="26" name="Retângulo 25">
            <a:extLst>
              <a:ext uri="{FF2B5EF4-FFF2-40B4-BE49-F238E27FC236}">
                <a16:creationId xmlns:a16="http://schemas.microsoft.com/office/drawing/2014/main" id="{90E7C9DD-9579-45EA-58CB-A42AED062EA4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1028218" y="6502400"/>
            <a:ext cx="1089891" cy="277091"/>
          </a:xfrm>
          <a:prstGeom prst="rect">
            <a:avLst/>
          </a:prstGeom>
          <a:solidFill>
            <a:srgbClr val="FBFAFF"/>
          </a:solidFill>
          <a:ln>
            <a:solidFill>
              <a:srgbClr val="FBFA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pic>
        <p:nvPicPr>
          <p:cNvPr id="27" name="Imagem 26">
            <a:extLst>
              <a:ext uri="{FF2B5EF4-FFF2-40B4-BE49-F238E27FC236}">
                <a16:creationId xmlns:a16="http://schemas.microsoft.com/office/drawing/2014/main" id="{F32C98CC-FC8D-73CC-6227-2FB024D3626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93366" y="1283157"/>
            <a:ext cx="6538823" cy="54939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7015664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4DDA37-F1E9-A372-1CB8-2912D7B7F4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76013A64-3563-6252-BBFC-8DEE75566D5D}"/>
              </a:ext>
            </a:extLst>
          </p:cNvPr>
          <p:cNvSpPr/>
          <p:nvPr/>
        </p:nvSpPr>
        <p:spPr>
          <a:xfrm>
            <a:off x="661475" y="741263"/>
            <a:ext cx="10868745" cy="4392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pt-BR" sz="2750" noProof="0" dirty="0">
                <a:solidFill>
                  <a:srgbClr val="403CCF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Modelo de Precificação</a:t>
            </a:r>
            <a:endParaRPr lang="pt-BR" sz="2750" noProof="0" dirty="0"/>
          </a:p>
        </p:txBody>
      </p:sp>
      <p:sp>
        <p:nvSpPr>
          <p:cNvPr id="26" name="Retângulo 25">
            <a:extLst>
              <a:ext uri="{FF2B5EF4-FFF2-40B4-BE49-F238E27FC236}">
                <a16:creationId xmlns:a16="http://schemas.microsoft.com/office/drawing/2014/main" id="{2D035DA2-59E7-0E61-9A80-68B1C27C4D39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1028218" y="6502400"/>
            <a:ext cx="1089891" cy="277091"/>
          </a:xfrm>
          <a:prstGeom prst="rect">
            <a:avLst/>
          </a:prstGeom>
          <a:solidFill>
            <a:srgbClr val="FBFAFF"/>
          </a:solidFill>
          <a:ln>
            <a:solidFill>
              <a:srgbClr val="FBFA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pic>
        <p:nvPicPr>
          <p:cNvPr id="4" name="Imagem 3">
            <a:extLst>
              <a:ext uri="{FF2B5EF4-FFF2-40B4-BE49-F238E27FC236}">
                <a16:creationId xmlns:a16="http://schemas.microsoft.com/office/drawing/2014/main" id="{588592DF-E368-B239-B761-7FE0EC4CA92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22933" y="1180504"/>
            <a:ext cx="7146133" cy="55887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9496577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ADDE4C-0A1B-1BEE-F9AE-F4AAACF956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9598374C-7D57-F355-6B5C-29A206A2759B}"/>
              </a:ext>
            </a:extLst>
          </p:cNvPr>
          <p:cNvSpPr/>
          <p:nvPr/>
        </p:nvSpPr>
        <p:spPr>
          <a:xfrm>
            <a:off x="661475" y="741263"/>
            <a:ext cx="10868745" cy="4392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pt-BR" sz="2750" noProof="0" dirty="0">
                <a:solidFill>
                  <a:srgbClr val="403CCF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Modelo de Precificação</a:t>
            </a:r>
            <a:endParaRPr lang="pt-BR" sz="2750" noProof="0" dirty="0"/>
          </a:p>
        </p:txBody>
      </p:sp>
      <p:sp>
        <p:nvSpPr>
          <p:cNvPr id="26" name="Retângulo 25">
            <a:extLst>
              <a:ext uri="{FF2B5EF4-FFF2-40B4-BE49-F238E27FC236}">
                <a16:creationId xmlns:a16="http://schemas.microsoft.com/office/drawing/2014/main" id="{20AC0D2C-A629-CF7F-9251-CDA5874AAB1A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1028218" y="6502400"/>
            <a:ext cx="1089891" cy="277091"/>
          </a:xfrm>
          <a:prstGeom prst="rect">
            <a:avLst/>
          </a:prstGeom>
          <a:solidFill>
            <a:srgbClr val="FBFAFF"/>
          </a:solidFill>
          <a:ln>
            <a:solidFill>
              <a:srgbClr val="FBFA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C4148706-8D17-E181-1783-15DC2D8BCD7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12853" y="1173248"/>
            <a:ext cx="6366294" cy="56062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9595784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580231"/>
            <a:ext cx="10868745" cy="49093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pt-BR" sz="3050" noProof="0" dirty="0">
                <a:solidFill>
                  <a:srgbClr val="403CCF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Análise Crítica: Pontos Fortes e Fracos</a:t>
            </a:r>
            <a:endParaRPr lang="pt-BR" sz="3050" noProof="0" dirty="0"/>
          </a:p>
        </p:txBody>
      </p:sp>
      <p:sp>
        <p:nvSpPr>
          <p:cNvPr id="3" name="Shape 1"/>
          <p:cNvSpPr/>
          <p:nvPr/>
        </p:nvSpPr>
        <p:spPr>
          <a:xfrm>
            <a:off x="548269" y="1295003"/>
            <a:ext cx="5469098" cy="4982666"/>
          </a:xfrm>
          <a:prstGeom prst="roundRect">
            <a:avLst>
              <a:gd name="adj" fmla="val 473"/>
            </a:avLst>
          </a:prstGeom>
          <a:solidFill>
            <a:srgbClr val="D7D6F5"/>
          </a:solidFill>
          <a:ln/>
        </p:spPr>
        <p:txBody>
          <a:bodyPr/>
          <a:lstStyle/>
          <a:p>
            <a:endParaRPr lang="pt-BR" noProof="0" dirty="0"/>
          </a:p>
        </p:txBody>
      </p:sp>
      <p:sp>
        <p:nvSpPr>
          <p:cNvPr id="4" name="Text 2"/>
          <p:cNvSpPr/>
          <p:nvPr/>
        </p:nvSpPr>
        <p:spPr>
          <a:xfrm>
            <a:off x="705328" y="1444228"/>
            <a:ext cx="5154980" cy="25191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pt-BR" sz="1500" noProof="0" dirty="0"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✅ Pontos Fortes</a:t>
            </a:r>
            <a:endParaRPr lang="pt-BR" sz="1500" noProof="0" dirty="0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64263" y="1871811"/>
            <a:ext cx="235639" cy="235645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215895" y="1864023"/>
            <a:ext cx="4644413" cy="49033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pt-BR" sz="1200" b="1" noProof="0" dirty="0">
                <a:latin typeface="Open Sans Bold" pitchFamily="34" charset="0"/>
                <a:ea typeface="Open Sans Bold" pitchFamily="34" charset="-122"/>
                <a:cs typeface="Open Sans Bold" pitchFamily="34" charset="-120"/>
              </a:rPr>
              <a:t>Colaboração em nuvem</a:t>
            </a:r>
            <a:r>
              <a:rPr lang="pt-BR" sz="1200" noProof="0" dirty="0">
                <a:latin typeface="Open Sans" pitchFamily="34" charset="0"/>
                <a:ea typeface="Open Sans" pitchFamily="34" charset="-122"/>
                <a:cs typeface="Open Sans" pitchFamily="34" charset="-120"/>
              </a:rPr>
              <a:t> com sincronização em tempo real entre múltiplos usuários, eliminando conflitos de versão.</a:t>
            </a:r>
            <a:endParaRPr lang="pt-BR" sz="1200" noProof="0" dirty="0"/>
          </a:p>
        </p:txBody>
      </p:sp>
      <p:pic>
        <p:nvPicPr>
          <p:cNvPr id="7" name="Image 1" descr="preencoded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64263" y="2660600"/>
            <a:ext cx="235639" cy="235645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1215895" y="2652812"/>
            <a:ext cx="4644413" cy="49033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pt-BR" sz="1200" b="1" noProof="0" dirty="0">
                <a:latin typeface="Open Sans Bold" pitchFamily="34" charset="0"/>
                <a:ea typeface="Open Sans Bold" pitchFamily="34" charset="-122"/>
                <a:cs typeface="Open Sans Bold" pitchFamily="34" charset="-120"/>
              </a:rPr>
              <a:t>Curva de aprendizado rápida</a:t>
            </a:r>
            <a:r>
              <a:rPr lang="pt-BR" sz="1200" noProof="0" dirty="0">
                <a:latin typeface="Open Sans" pitchFamily="34" charset="0"/>
                <a:ea typeface="Open Sans" pitchFamily="34" charset="-122"/>
                <a:cs typeface="Open Sans" pitchFamily="34" charset="-120"/>
              </a:rPr>
              <a:t>, permitindo produtividade imediata mesmo para usuários sem experiência prévia.</a:t>
            </a:r>
            <a:endParaRPr lang="pt-BR" sz="1200" noProof="0" dirty="0"/>
          </a:p>
        </p:txBody>
      </p:sp>
      <p:pic>
        <p:nvPicPr>
          <p:cNvPr id="9" name="Image 2" descr="preencoded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64263" y="3449389"/>
            <a:ext cx="235639" cy="235645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1215895" y="3441601"/>
            <a:ext cx="4644413" cy="49033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pt-BR" sz="1200" b="1" noProof="0" dirty="0">
                <a:latin typeface="Open Sans Bold" pitchFamily="34" charset="0"/>
                <a:ea typeface="Open Sans Bold" pitchFamily="34" charset="-122"/>
                <a:cs typeface="Open Sans Bold" pitchFamily="34" charset="-120"/>
              </a:rPr>
              <a:t>Recursos avançados de IA</a:t>
            </a:r>
            <a:r>
              <a:rPr lang="pt-BR" sz="1200" noProof="0" dirty="0">
                <a:latin typeface="Open Sans" pitchFamily="34" charset="0"/>
                <a:ea typeface="Open Sans" pitchFamily="34" charset="-122"/>
                <a:cs typeface="Open Sans" pitchFamily="34" charset="-120"/>
              </a:rPr>
              <a:t> para automação de tarefas repetitivas e sugestões de otimização de processos.</a:t>
            </a:r>
            <a:endParaRPr lang="pt-BR" sz="1200" noProof="0" dirty="0"/>
          </a:p>
        </p:txBody>
      </p:sp>
      <p:pic>
        <p:nvPicPr>
          <p:cNvPr id="11" name="Image 3" descr="preencoded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64263" y="4238179"/>
            <a:ext cx="235639" cy="235645"/>
          </a:xfrm>
          <a:prstGeom prst="rect">
            <a:avLst/>
          </a:prstGeom>
        </p:spPr>
      </p:pic>
      <p:sp>
        <p:nvSpPr>
          <p:cNvPr id="12" name="Text 6"/>
          <p:cNvSpPr/>
          <p:nvPr/>
        </p:nvSpPr>
        <p:spPr>
          <a:xfrm>
            <a:off x="1215895" y="4230390"/>
            <a:ext cx="4644413" cy="49033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pt-BR" sz="1200" b="1" noProof="0" dirty="0">
                <a:latin typeface="Open Sans Bold" pitchFamily="34" charset="0"/>
                <a:ea typeface="Open Sans Bold" pitchFamily="34" charset="-122"/>
                <a:cs typeface="Open Sans Bold" pitchFamily="34" charset="-120"/>
              </a:rPr>
              <a:t>Suporte completo e nativo</a:t>
            </a:r>
            <a:r>
              <a:rPr lang="pt-BR" sz="1200" noProof="0" dirty="0">
                <a:latin typeface="Open Sans" pitchFamily="34" charset="0"/>
                <a:ea typeface="Open Sans" pitchFamily="34" charset="-122"/>
                <a:cs typeface="Open Sans" pitchFamily="34" charset="-120"/>
              </a:rPr>
              <a:t> à notação BPMN 2.0, com bibliotecas de formas padronizadas e pré-configuradas.</a:t>
            </a:r>
            <a:endParaRPr lang="pt-BR" sz="1200" noProof="0" dirty="0"/>
          </a:p>
        </p:txBody>
      </p:sp>
      <p:pic>
        <p:nvPicPr>
          <p:cNvPr id="13" name="Image 4" descr="preencoded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64263" y="5026968"/>
            <a:ext cx="235639" cy="235645"/>
          </a:xfrm>
          <a:prstGeom prst="rect">
            <a:avLst/>
          </a:prstGeom>
        </p:spPr>
      </p:pic>
      <p:sp>
        <p:nvSpPr>
          <p:cNvPr id="14" name="Text 7"/>
          <p:cNvSpPr/>
          <p:nvPr/>
        </p:nvSpPr>
        <p:spPr>
          <a:xfrm>
            <a:off x="1215895" y="5019179"/>
            <a:ext cx="4644413" cy="49033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pt-BR" sz="1200" b="1" noProof="0" dirty="0">
                <a:latin typeface="Open Sans Bold" pitchFamily="34" charset="0"/>
                <a:ea typeface="Open Sans Bold" pitchFamily="34" charset="-122"/>
                <a:cs typeface="Open Sans Bold" pitchFamily="34" charset="-120"/>
              </a:rPr>
              <a:t>Interface responsiva</a:t>
            </a:r>
            <a:r>
              <a:rPr lang="pt-BR" sz="1200" noProof="0" dirty="0">
                <a:latin typeface="Open Sans" pitchFamily="34" charset="0"/>
                <a:ea typeface="Open Sans" pitchFamily="34" charset="-122"/>
                <a:cs typeface="Open Sans" pitchFamily="34" charset="-120"/>
              </a:rPr>
              <a:t> e acessível em diferentes dispositivos e sistemas operacionais.</a:t>
            </a:r>
            <a:endParaRPr lang="pt-BR" sz="1200" noProof="0" dirty="0"/>
          </a:p>
        </p:txBody>
      </p:sp>
      <p:sp>
        <p:nvSpPr>
          <p:cNvPr id="15" name="Text 8"/>
          <p:cNvSpPr/>
          <p:nvPr/>
        </p:nvSpPr>
        <p:spPr>
          <a:xfrm>
            <a:off x="6293883" y="1444228"/>
            <a:ext cx="5242687" cy="25191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pt-BR" sz="1500" noProof="0" dirty="0">
                <a:solidFill>
                  <a:srgbClr val="000000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⚠️</a:t>
            </a:r>
            <a:r>
              <a:rPr lang="pt-BR" sz="1500" noProof="0" dirty="0">
                <a:solidFill>
                  <a:srgbClr val="403CCF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 Pontos Fracos</a:t>
            </a:r>
            <a:endParaRPr lang="pt-BR" sz="1500" noProof="0" dirty="0"/>
          </a:p>
        </p:txBody>
      </p:sp>
      <p:pic>
        <p:nvPicPr>
          <p:cNvPr id="16" name="Image 5" descr="preencoded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352818" y="1871811"/>
            <a:ext cx="235639" cy="235645"/>
          </a:xfrm>
          <a:prstGeom prst="rect">
            <a:avLst/>
          </a:prstGeom>
        </p:spPr>
      </p:pic>
      <p:sp>
        <p:nvSpPr>
          <p:cNvPr id="17" name="Text 9"/>
          <p:cNvSpPr/>
          <p:nvPr/>
        </p:nvSpPr>
        <p:spPr>
          <a:xfrm>
            <a:off x="6804450" y="1864023"/>
            <a:ext cx="2017464" cy="12258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pt-BR" sz="1200" b="1" noProof="0" dirty="0">
                <a:solidFill>
                  <a:srgbClr val="49495A"/>
                </a:solidFill>
                <a:latin typeface="Open Sans Bold" pitchFamily="34" charset="0"/>
                <a:ea typeface="Open Sans Bold" pitchFamily="34" charset="-122"/>
                <a:cs typeface="Open Sans Bold" pitchFamily="34" charset="-120"/>
              </a:rPr>
              <a:t>Limitações severas</a:t>
            </a:r>
            <a:r>
              <a:rPr lang="pt-BR" sz="1200" noProof="0" dirty="0">
                <a:solidFill>
                  <a:srgbClr val="49495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 na versão gratuita, restringindo uso prolongado sem investimento financeiro.</a:t>
            </a:r>
            <a:endParaRPr lang="pt-BR" sz="1200" noProof="0" dirty="0"/>
          </a:p>
        </p:txBody>
      </p:sp>
      <p:pic>
        <p:nvPicPr>
          <p:cNvPr id="18" name="Image 6" descr="preencoded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067375" y="1871811"/>
            <a:ext cx="235639" cy="235645"/>
          </a:xfrm>
          <a:prstGeom prst="rect">
            <a:avLst/>
          </a:prstGeom>
        </p:spPr>
      </p:pic>
      <p:sp>
        <p:nvSpPr>
          <p:cNvPr id="19" name="Text 10"/>
          <p:cNvSpPr/>
          <p:nvPr/>
        </p:nvSpPr>
        <p:spPr>
          <a:xfrm>
            <a:off x="9519007" y="1864023"/>
            <a:ext cx="2017563" cy="12258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pt-BR" sz="1200" b="1" noProof="0" dirty="0">
                <a:solidFill>
                  <a:srgbClr val="49495A"/>
                </a:solidFill>
                <a:latin typeface="Open Sans Bold" pitchFamily="34" charset="0"/>
                <a:ea typeface="Open Sans Bold" pitchFamily="34" charset="-122"/>
                <a:cs typeface="Open Sans Bold" pitchFamily="34" charset="-120"/>
              </a:rPr>
              <a:t>Dependência crítica</a:t>
            </a:r>
            <a:r>
              <a:rPr lang="pt-BR" sz="1200" noProof="0" dirty="0">
                <a:solidFill>
                  <a:srgbClr val="49495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 de conexão com internet para funcionamento, inviabilizando uso em ambientes offline.</a:t>
            </a:r>
            <a:endParaRPr lang="pt-BR" sz="1200" noProof="0" dirty="0"/>
          </a:p>
        </p:txBody>
      </p:sp>
      <p:pic>
        <p:nvPicPr>
          <p:cNvPr id="20" name="Image 7" descr="preencoded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352818" y="3396109"/>
            <a:ext cx="235639" cy="235645"/>
          </a:xfrm>
          <a:prstGeom prst="rect">
            <a:avLst/>
          </a:prstGeom>
        </p:spPr>
      </p:pic>
      <p:sp>
        <p:nvSpPr>
          <p:cNvPr id="21" name="Text 11"/>
          <p:cNvSpPr/>
          <p:nvPr/>
        </p:nvSpPr>
        <p:spPr>
          <a:xfrm>
            <a:off x="6804450" y="3388320"/>
            <a:ext cx="2017464" cy="12258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pt-BR" sz="1200" b="1" noProof="0" dirty="0">
                <a:solidFill>
                  <a:srgbClr val="49495A"/>
                </a:solidFill>
                <a:latin typeface="Open Sans Bold" pitchFamily="34" charset="0"/>
                <a:ea typeface="Open Sans Bold" pitchFamily="34" charset="-122"/>
                <a:cs typeface="Open Sans Bold" pitchFamily="34" charset="-120"/>
              </a:rPr>
              <a:t>Preocupações com segurança</a:t>
            </a:r>
            <a:r>
              <a:rPr lang="pt-BR" sz="1200" noProof="0" dirty="0">
                <a:solidFill>
                  <a:srgbClr val="49495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 de dados em ambientes corporativos altamente regulados (ex.: setor financeiro e saúde).</a:t>
            </a:r>
            <a:endParaRPr lang="pt-BR" sz="1200" noProof="0" dirty="0"/>
          </a:p>
        </p:txBody>
      </p:sp>
      <p:pic>
        <p:nvPicPr>
          <p:cNvPr id="22" name="Image 8" descr="preencoded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067375" y="3396109"/>
            <a:ext cx="235639" cy="235645"/>
          </a:xfrm>
          <a:prstGeom prst="rect">
            <a:avLst/>
          </a:prstGeom>
        </p:spPr>
      </p:pic>
      <p:sp>
        <p:nvSpPr>
          <p:cNvPr id="23" name="Text 12"/>
          <p:cNvSpPr/>
          <p:nvPr/>
        </p:nvSpPr>
        <p:spPr>
          <a:xfrm>
            <a:off x="9519007" y="3388320"/>
            <a:ext cx="2017563" cy="98067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pt-BR" sz="1200" b="1" noProof="0" dirty="0">
                <a:solidFill>
                  <a:srgbClr val="49495A"/>
                </a:solidFill>
                <a:latin typeface="Open Sans Bold" pitchFamily="34" charset="0"/>
                <a:ea typeface="Open Sans Bold" pitchFamily="34" charset="-122"/>
                <a:cs typeface="Open Sans Bold" pitchFamily="34" charset="-120"/>
              </a:rPr>
              <a:t>Custo dos planos pagos</a:t>
            </a:r>
            <a:r>
              <a:rPr lang="pt-BR" sz="1200" noProof="0" dirty="0">
                <a:solidFill>
                  <a:srgbClr val="49495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 pode ser elevado para pequenas organizações com orçamento restrito.</a:t>
            </a:r>
            <a:endParaRPr lang="pt-BR" sz="1200" noProof="0" dirty="0"/>
          </a:p>
        </p:txBody>
      </p:sp>
      <p:sp>
        <p:nvSpPr>
          <p:cNvPr id="24" name="Shape 13"/>
          <p:cNvSpPr/>
          <p:nvPr/>
        </p:nvSpPr>
        <p:spPr>
          <a:xfrm>
            <a:off x="6293883" y="4782046"/>
            <a:ext cx="5242687" cy="1327745"/>
          </a:xfrm>
          <a:prstGeom prst="roundRect">
            <a:avLst>
              <a:gd name="adj" fmla="val 1775"/>
            </a:avLst>
          </a:prstGeom>
          <a:solidFill>
            <a:srgbClr val="D7D6F5"/>
          </a:solidFill>
          <a:ln/>
        </p:spPr>
        <p:txBody>
          <a:bodyPr/>
          <a:lstStyle/>
          <a:p>
            <a:endParaRPr lang="pt-BR" noProof="0" dirty="0"/>
          </a:p>
        </p:txBody>
      </p:sp>
      <p:pic>
        <p:nvPicPr>
          <p:cNvPr id="25" name="Image 9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50943" y="5010745"/>
            <a:ext cx="196349" cy="157063"/>
          </a:xfrm>
          <a:prstGeom prst="rect">
            <a:avLst/>
          </a:prstGeom>
        </p:spPr>
      </p:pic>
      <p:sp>
        <p:nvSpPr>
          <p:cNvPr id="26" name="Text 14"/>
          <p:cNvSpPr/>
          <p:nvPr/>
        </p:nvSpPr>
        <p:spPr>
          <a:xfrm>
            <a:off x="6804351" y="4955580"/>
            <a:ext cx="4575160" cy="98067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pt-BR" sz="1200" b="1" noProof="0" dirty="0">
                <a:solidFill>
                  <a:srgbClr val="000000"/>
                </a:solidFill>
                <a:latin typeface="Open Sans Bold" pitchFamily="34" charset="0"/>
                <a:ea typeface="Open Sans Bold" pitchFamily="34" charset="-122"/>
                <a:cs typeface="Open Sans Bold" pitchFamily="34" charset="-120"/>
              </a:rPr>
              <a:t>Conclusão parcial:</a:t>
            </a:r>
            <a:r>
              <a:rPr lang="pt-BR" sz="1200" noProof="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 Ferramenta robusta com excelente relação custo-benefício para a maioria dos cenários, com ressalvas específicas para contextos offline ou com restrições orçamentárias.</a:t>
            </a:r>
            <a:endParaRPr lang="pt-BR" sz="1200" noProof="0" dirty="0"/>
          </a:p>
        </p:txBody>
      </p:sp>
      <p:sp>
        <p:nvSpPr>
          <p:cNvPr id="28" name="Retângulo 27">
            <a:extLst>
              <a:ext uri="{FF2B5EF4-FFF2-40B4-BE49-F238E27FC236}">
                <a16:creationId xmlns:a16="http://schemas.microsoft.com/office/drawing/2014/main" id="{21EC7044-9F7A-BA3D-2324-C77B25FAE239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1028218" y="6502400"/>
            <a:ext cx="1089891" cy="277091"/>
          </a:xfrm>
          <a:prstGeom prst="rect">
            <a:avLst/>
          </a:prstGeom>
          <a:solidFill>
            <a:srgbClr val="FBFAFF"/>
          </a:solidFill>
          <a:ln>
            <a:solidFill>
              <a:srgbClr val="FBFA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511671"/>
            <a:ext cx="10868745" cy="45789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pt-BR" sz="2850" noProof="0" dirty="0">
                <a:solidFill>
                  <a:srgbClr val="403CCF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Aplicabilidade</a:t>
            </a:r>
            <a:endParaRPr lang="pt-BR" sz="2850" noProof="0" dirty="0"/>
          </a:p>
        </p:txBody>
      </p:sp>
      <p:sp>
        <p:nvSpPr>
          <p:cNvPr id="3" name="Text 1"/>
          <p:cNvSpPr/>
          <p:nvPr/>
        </p:nvSpPr>
        <p:spPr>
          <a:xfrm>
            <a:off x="661475" y="1229122"/>
            <a:ext cx="10868745" cy="44211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6000"/>
              </a:lnSpc>
              <a:buNone/>
            </a:pPr>
            <a:r>
              <a:rPr lang="pt-BR" sz="1150" noProof="0" dirty="0">
                <a:solidFill>
                  <a:srgbClr val="49495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O </a:t>
            </a:r>
            <a:r>
              <a:rPr lang="pt-BR" sz="1150" noProof="0" dirty="0" err="1">
                <a:solidFill>
                  <a:srgbClr val="49495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Lucidchart</a:t>
            </a:r>
            <a:r>
              <a:rPr lang="pt-BR" sz="1150" noProof="0" dirty="0">
                <a:solidFill>
                  <a:srgbClr val="49495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 demonstra </a:t>
            </a:r>
            <a:r>
              <a:rPr lang="pt-BR" sz="1150" b="1" noProof="0" dirty="0">
                <a:solidFill>
                  <a:srgbClr val="49495A"/>
                </a:solidFill>
                <a:latin typeface="Open Sans Bold" pitchFamily="34" charset="0"/>
                <a:ea typeface="Open Sans Bold" pitchFamily="34" charset="-122"/>
                <a:cs typeface="Open Sans Bold" pitchFamily="34" charset="-120"/>
              </a:rPr>
              <a:t>versatilidade de aplicação</a:t>
            </a:r>
            <a:r>
              <a:rPr lang="pt-BR" sz="1150" noProof="0" dirty="0">
                <a:solidFill>
                  <a:srgbClr val="49495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 em diferentes perfis organizacionais, sendo particularmente eficaz onde a colaboração ágil e a padronização de processos são fatores críticos de sucesso.</a:t>
            </a:r>
            <a:endParaRPr lang="pt-BR" sz="1150" noProof="0" dirty="0"/>
          </a:p>
        </p:txBody>
      </p:sp>
      <p:sp>
        <p:nvSpPr>
          <p:cNvPr id="4" name="Shape 2"/>
          <p:cNvSpPr/>
          <p:nvPr/>
        </p:nvSpPr>
        <p:spPr>
          <a:xfrm>
            <a:off x="661475" y="1817191"/>
            <a:ext cx="5369485" cy="1262856"/>
          </a:xfrm>
          <a:prstGeom prst="roundRect">
            <a:avLst>
              <a:gd name="adj" fmla="val 1740"/>
            </a:avLst>
          </a:prstGeom>
          <a:solidFill>
            <a:srgbClr val="EAE8F3"/>
          </a:solidFill>
          <a:ln/>
        </p:spPr>
        <p:txBody>
          <a:bodyPr/>
          <a:lstStyle/>
          <a:p>
            <a:endParaRPr lang="pt-BR" noProof="0" dirty="0"/>
          </a:p>
        </p:txBody>
      </p:sp>
      <p:sp>
        <p:nvSpPr>
          <p:cNvPr id="5" name="Text 3"/>
          <p:cNvSpPr/>
          <p:nvPr/>
        </p:nvSpPr>
        <p:spPr>
          <a:xfrm>
            <a:off x="807918" y="1963638"/>
            <a:ext cx="5076599" cy="22889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pt-BR" sz="1400" noProof="0" dirty="0">
                <a:solidFill>
                  <a:srgbClr val="000000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🚀</a:t>
            </a:r>
            <a:r>
              <a:rPr lang="pt-BR" sz="1400" noProof="0" dirty="0">
                <a:solidFill>
                  <a:srgbClr val="49495A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 Startups</a:t>
            </a:r>
            <a:endParaRPr lang="pt-BR" sz="1400" noProof="0" dirty="0"/>
          </a:p>
        </p:txBody>
      </p:sp>
      <p:sp>
        <p:nvSpPr>
          <p:cNvPr id="6" name="Text 4"/>
          <p:cNvSpPr/>
          <p:nvPr/>
        </p:nvSpPr>
        <p:spPr>
          <a:xfrm>
            <a:off x="807918" y="2270423"/>
            <a:ext cx="5076599" cy="66317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6000"/>
              </a:lnSpc>
              <a:buNone/>
            </a:pPr>
            <a:r>
              <a:rPr lang="pt-BR" sz="1150" noProof="0" dirty="0">
                <a:solidFill>
                  <a:srgbClr val="49495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Necessitam de ferramentas </a:t>
            </a:r>
            <a:r>
              <a:rPr lang="pt-BR" sz="1150" b="1" noProof="0" dirty="0">
                <a:solidFill>
                  <a:srgbClr val="49495A"/>
                </a:solidFill>
                <a:latin typeface="Open Sans Bold" pitchFamily="34" charset="0"/>
                <a:ea typeface="Open Sans Bold" pitchFamily="34" charset="-122"/>
                <a:cs typeface="Open Sans Bold" pitchFamily="34" charset="-120"/>
              </a:rPr>
              <a:t>ágeis e colaborativas</a:t>
            </a:r>
            <a:r>
              <a:rPr lang="pt-BR" sz="1150" noProof="0" dirty="0">
                <a:solidFill>
                  <a:srgbClr val="49495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 com baixo custo inicial. O plano gratuito atende às demandas iniciais de mapeamento de processos.</a:t>
            </a:r>
            <a:endParaRPr lang="pt-BR" sz="1150" noProof="0" dirty="0"/>
          </a:p>
        </p:txBody>
      </p:sp>
      <p:sp>
        <p:nvSpPr>
          <p:cNvPr id="7" name="Shape 5"/>
          <p:cNvSpPr/>
          <p:nvPr/>
        </p:nvSpPr>
        <p:spPr>
          <a:xfrm>
            <a:off x="6160735" y="1817191"/>
            <a:ext cx="5369485" cy="1262856"/>
          </a:xfrm>
          <a:prstGeom prst="roundRect">
            <a:avLst>
              <a:gd name="adj" fmla="val 1740"/>
            </a:avLst>
          </a:prstGeom>
          <a:solidFill>
            <a:srgbClr val="EAE8F3"/>
          </a:solidFill>
          <a:ln/>
        </p:spPr>
        <p:txBody>
          <a:bodyPr/>
          <a:lstStyle/>
          <a:p>
            <a:endParaRPr lang="pt-BR" noProof="0" dirty="0"/>
          </a:p>
        </p:txBody>
      </p:sp>
      <p:sp>
        <p:nvSpPr>
          <p:cNvPr id="8" name="Text 6"/>
          <p:cNvSpPr/>
          <p:nvPr/>
        </p:nvSpPr>
        <p:spPr>
          <a:xfrm>
            <a:off x="6307178" y="1963638"/>
            <a:ext cx="5076599" cy="22889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pt-BR" sz="1400" noProof="0" dirty="0">
                <a:solidFill>
                  <a:srgbClr val="000000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🏪</a:t>
            </a:r>
            <a:r>
              <a:rPr lang="pt-BR" sz="1400" noProof="0" dirty="0">
                <a:solidFill>
                  <a:srgbClr val="49495A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 </a:t>
            </a:r>
            <a:r>
              <a:rPr lang="pt-BR" sz="1400" noProof="0" dirty="0" err="1">
                <a:solidFill>
                  <a:srgbClr val="49495A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PMEs</a:t>
            </a:r>
            <a:endParaRPr lang="pt-BR" sz="1400" noProof="0" dirty="0"/>
          </a:p>
        </p:txBody>
      </p:sp>
      <p:sp>
        <p:nvSpPr>
          <p:cNvPr id="9" name="Text 7"/>
          <p:cNvSpPr/>
          <p:nvPr/>
        </p:nvSpPr>
        <p:spPr>
          <a:xfrm>
            <a:off x="6307178" y="2270423"/>
            <a:ext cx="5076599" cy="44211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6000"/>
              </a:lnSpc>
              <a:buNone/>
            </a:pPr>
            <a:r>
              <a:rPr lang="pt-BR" sz="1150" noProof="0" dirty="0">
                <a:solidFill>
                  <a:srgbClr val="49495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Buscam </a:t>
            </a:r>
            <a:r>
              <a:rPr lang="pt-BR" sz="1150" b="1" noProof="0" dirty="0">
                <a:solidFill>
                  <a:srgbClr val="49495A"/>
                </a:solidFill>
                <a:latin typeface="Open Sans Bold" pitchFamily="34" charset="0"/>
                <a:ea typeface="Open Sans Bold" pitchFamily="34" charset="-122"/>
                <a:cs typeface="Open Sans Bold" pitchFamily="34" charset="-120"/>
              </a:rPr>
              <a:t>padronização de processos</a:t>
            </a:r>
            <a:r>
              <a:rPr lang="pt-BR" sz="1150" noProof="0" dirty="0">
                <a:solidFill>
                  <a:srgbClr val="49495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 sem investimento em infraestrutura tecnológica complexa ou equipes especializadas de TI.</a:t>
            </a:r>
            <a:endParaRPr lang="pt-BR" sz="1150" noProof="0" dirty="0"/>
          </a:p>
        </p:txBody>
      </p:sp>
      <p:sp>
        <p:nvSpPr>
          <p:cNvPr id="10" name="Shape 8"/>
          <p:cNvSpPr/>
          <p:nvPr/>
        </p:nvSpPr>
        <p:spPr>
          <a:xfrm>
            <a:off x="661475" y="3209826"/>
            <a:ext cx="5369485" cy="1041797"/>
          </a:xfrm>
          <a:prstGeom prst="roundRect">
            <a:avLst>
              <a:gd name="adj" fmla="val 2110"/>
            </a:avLst>
          </a:prstGeom>
          <a:solidFill>
            <a:srgbClr val="EAE8F3"/>
          </a:solidFill>
          <a:ln/>
        </p:spPr>
        <p:txBody>
          <a:bodyPr/>
          <a:lstStyle/>
          <a:p>
            <a:endParaRPr lang="pt-BR" noProof="0" dirty="0"/>
          </a:p>
        </p:txBody>
      </p:sp>
      <p:sp>
        <p:nvSpPr>
          <p:cNvPr id="11" name="Text 9"/>
          <p:cNvSpPr/>
          <p:nvPr/>
        </p:nvSpPr>
        <p:spPr>
          <a:xfrm>
            <a:off x="807918" y="3356273"/>
            <a:ext cx="5076599" cy="22889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pt-BR" sz="1400" noProof="0" dirty="0">
                <a:solidFill>
                  <a:srgbClr val="000000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🏢</a:t>
            </a:r>
            <a:r>
              <a:rPr lang="pt-BR" sz="1400" noProof="0" dirty="0">
                <a:solidFill>
                  <a:srgbClr val="49495A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 Grandes Corporações</a:t>
            </a:r>
            <a:endParaRPr lang="pt-BR" sz="1400" noProof="0" dirty="0"/>
          </a:p>
        </p:txBody>
      </p:sp>
      <p:sp>
        <p:nvSpPr>
          <p:cNvPr id="12" name="Text 10"/>
          <p:cNvSpPr/>
          <p:nvPr/>
        </p:nvSpPr>
        <p:spPr>
          <a:xfrm>
            <a:off x="807918" y="3663057"/>
            <a:ext cx="5076599" cy="44211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6000"/>
              </a:lnSpc>
              <a:buNone/>
            </a:pPr>
            <a:r>
              <a:rPr lang="pt-BR" sz="1150" noProof="0" dirty="0">
                <a:solidFill>
                  <a:srgbClr val="49495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Requerem </a:t>
            </a:r>
            <a:r>
              <a:rPr lang="pt-BR" sz="1150" b="1" noProof="0" dirty="0">
                <a:solidFill>
                  <a:srgbClr val="49495A"/>
                </a:solidFill>
                <a:latin typeface="Open Sans Bold" pitchFamily="34" charset="0"/>
                <a:ea typeface="Open Sans Bold" pitchFamily="34" charset="-122"/>
                <a:cs typeface="Open Sans Bold" pitchFamily="34" charset="-120"/>
              </a:rPr>
              <a:t>colaboração em larga escala</a:t>
            </a:r>
            <a:r>
              <a:rPr lang="pt-BR" sz="1150" noProof="0" dirty="0">
                <a:solidFill>
                  <a:srgbClr val="49495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, conformidade com padrões internacionais e integração com sistemas legados existentes.</a:t>
            </a:r>
            <a:endParaRPr lang="pt-BR" sz="1150" noProof="0" dirty="0"/>
          </a:p>
        </p:txBody>
      </p:sp>
      <p:sp>
        <p:nvSpPr>
          <p:cNvPr id="13" name="Shape 11"/>
          <p:cNvSpPr/>
          <p:nvPr/>
        </p:nvSpPr>
        <p:spPr>
          <a:xfrm>
            <a:off x="6160735" y="3209826"/>
            <a:ext cx="5369485" cy="1041797"/>
          </a:xfrm>
          <a:prstGeom prst="roundRect">
            <a:avLst>
              <a:gd name="adj" fmla="val 2110"/>
            </a:avLst>
          </a:prstGeom>
          <a:solidFill>
            <a:srgbClr val="EAE8F3"/>
          </a:solidFill>
          <a:ln/>
        </p:spPr>
        <p:txBody>
          <a:bodyPr/>
          <a:lstStyle/>
          <a:p>
            <a:endParaRPr lang="pt-BR" noProof="0" dirty="0"/>
          </a:p>
        </p:txBody>
      </p:sp>
      <p:sp>
        <p:nvSpPr>
          <p:cNvPr id="14" name="Text 12"/>
          <p:cNvSpPr/>
          <p:nvPr/>
        </p:nvSpPr>
        <p:spPr>
          <a:xfrm>
            <a:off x="6307178" y="3356273"/>
            <a:ext cx="5076599" cy="22889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pt-BR" sz="1400" noProof="0" dirty="0">
                <a:solidFill>
                  <a:srgbClr val="000000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🎓</a:t>
            </a:r>
            <a:r>
              <a:rPr lang="pt-BR" sz="1400" noProof="0" dirty="0">
                <a:solidFill>
                  <a:srgbClr val="49495A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 Instituições Acadêmicas</a:t>
            </a:r>
            <a:endParaRPr lang="pt-BR" sz="1400" noProof="0" dirty="0"/>
          </a:p>
        </p:txBody>
      </p:sp>
      <p:sp>
        <p:nvSpPr>
          <p:cNvPr id="15" name="Text 13"/>
          <p:cNvSpPr/>
          <p:nvPr/>
        </p:nvSpPr>
        <p:spPr>
          <a:xfrm>
            <a:off x="6307178" y="3663057"/>
            <a:ext cx="5076599" cy="44211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6000"/>
              </a:lnSpc>
              <a:buNone/>
            </a:pPr>
            <a:r>
              <a:rPr lang="pt-BR" sz="1150" noProof="0" dirty="0">
                <a:solidFill>
                  <a:srgbClr val="49495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Utilizam para </a:t>
            </a:r>
            <a:r>
              <a:rPr lang="pt-BR" sz="1150" b="1" noProof="0" dirty="0">
                <a:solidFill>
                  <a:srgbClr val="49495A"/>
                </a:solidFill>
                <a:latin typeface="Open Sans Bold" pitchFamily="34" charset="0"/>
                <a:ea typeface="Open Sans Bold" pitchFamily="34" charset="-122"/>
                <a:cs typeface="Open Sans Bold" pitchFamily="34" charset="-120"/>
              </a:rPr>
              <a:t>ensino de modelagem</a:t>
            </a:r>
            <a:r>
              <a:rPr lang="pt-BR" sz="1150" noProof="0" dirty="0">
                <a:solidFill>
                  <a:srgbClr val="49495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 de processos e pesquisa em otimização e reengenharia de processos organizacionais.</a:t>
            </a:r>
            <a:endParaRPr lang="pt-BR" sz="1150" noProof="0" dirty="0"/>
          </a:p>
        </p:txBody>
      </p:sp>
      <p:sp>
        <p:nvSpPr>
          <p:cNvPr id="16" name="Shape 14"/>
          <p:cNvSpPr/>
          <p:nvPr/>
        </p:nvSpPr>
        <p:spPr>
          <a:xfrm>
            <a:off x="661475" y="4434185"/>
            <a:ext cx="10868745" cy="19050"/>
          </a:xfrm>
          <a:prstGeom prst="roundRect">
            <a:avLst>
              <a:gd name="adj" fmla="val 49999"/>
            </a:avLst>
          </a:prstGeom>
          <a:solidFill>
            <a:srgbClr val="49495A">
              <a:alpha val="50000"/>
            </a:srgbClr>
          </a:solidFill>
          <a:ln/>
        </p:spPr>
        <p:txBody>
          <a:bodyPr/>
          <a:lstStyle/>
          <a:p>
            <a:endParaRPr lang="pt-BR" noProof="0" dirty="0"/>
          </a:p>
        </p:txBody>
      </p:sp>
      <p:grpSp>
        <p:nvGrpSpPr>
          <p:cNvPr id="24" name="Agrupar 23">
            <a:extLst>
              <a:ext uri="{FF2B5EF4-FFF2-40B4-BE49-F238E27FC236}">
                <a16:creationId xmlns:a16="http://schemas.microsoft.com/office/drawing/2014/main" id="{D278435C-79BA-7EFD-5CB8-88B49462B287}"/>
              </a:ext>
            </a:extLst>
          </p:cNvPr>
          <p:cNvGrpSpPr/>
          <p:nvPr/>
        </p:nvGrpSpPr>
        <p:grpSpPr>
          <a:xfrm>
            <a:off x="3151208" y="4635798"/>
            <a:ext cx="5466618" cy="1710531"/>
            <a:chOff x="556008" y="4635798"/>
            <a:chExt cx="5466618" cy="1710531"/>
          </a:xfrm>
        </p:grpSpPr>
        <p:sp>
          <p:nvSpPr>
            <p:cNvPr id="17" name="Shape 15"/>
            <p:cNvSpPr/>
            <p:nvPr/>
          </p:nvSpPr>
          <p:spPr>
            <a:xfrm>
              <a:off x="556008" y="4635798"/>
              <a:ext cx="5466618" cy="1710531"/>
            </a:xfrm>
            <a:prstGeom prst="roundRect">
              <a:avLst>
                <a:gd name="adj" fmla="val 1285"/>
              </a:avLst>
            </a:prstGeom>
            <a:solidFill>
              <a:srgbClr val="EAE8F3"/>
            </a:solidFill>
            <a:ln/>
          </p:spPr>
          <p:txBody>
            <a:bodyPr/>
            <a:lstStyle/>
            <a:p>
              <a:endParaRPr lang="pt-BR" noProof="0" dirty="0"/>
            </a:p>
          </p:txBody>
        </p:sp>
        <p:sp>
          <p:nvSpPr>
            <p:cNvPr id="18" name="Text 16"/>
            <p:cNvSpPr/>
            <p:nvPr/>
          </p:nvSpPr>
          <p:spPr>
            <a:xfrm>
              <a:off x="702451" y="4765576"/>
              <a:ext cx="5173732" cy="22889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marL="0" indent="0" algn="l">
                <a:lnSpc>
                  <a:spcPct val="104000"/>
                </a:lnSpc>
                <a:buNone/>
              </a:pPr>
              <a:r>
                <a:rPr lang="pt-BR" sz="1400" noProof="0" dirty="0">
                  <a:latin typeface="Libre Baskerville" pitchFamily="34" charset="0"/>
                  <a:ea typeface="Libre Baskerville" pitchFamily="34" charset="-122"/>
                  <a:cs typeface="Libre Baskerville" pitchFamily="34" charset="-120"/>
                </a:rPr>
                <a:t>Fator Crítico de Sucesso</a:t>
              </a:r>
              <a:endParaRPr lang="pt-BR" sz="1400" noProof="0" dirty="0"/>
            </a:p>
          </p:txBody>
        </p:sp>
        <p:sp>
          <p:nvSpPr>
            <p:cNvPr id="19" name="Text 17"/>
            <p:cNvSpPr/>
            <p:nvPr/>
          </p:nvSpPr>
          <p:spPr>
            <a:xfrm>
              <a:off x="702451" y="5124252"/>
              <a:ext cx="5173732" cy="88423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>
              <a:normAutofit/>
            </a:bodyPr>
            <a:lstStyle/>
            <a:p>
              <a:pPr marL="0" indent="0" algn="l">
                <a:lnSpc>
                  <a:spcPct val="126000"/>
                </a:lnSpc>
                <a:buNone/>
              </a:pPr>
              <a:r>
                <a:rPr lang="pt-BR" sz="1150" noProof="0" dirty="0">
                  <a:latin typeface="Open Sans" pitchFamily="34" charset="0"/>
                  <a:ea typeface="Open Sans" pitchFamily="34" charset="-122"/>
                  <a:cs typeface="Open Sans" pitchFamily="34" charset="-120"/>
                </a:rPr>
                <a:t>A necessidade de </a:t>
              </a:r>
              <a:r>
                <a:rPr lang="pt-BR" sz="1150" b="1" noProof="0" dirty="0">
                  <a:latin typeface="Open Sans Bold" pitchFamily="34" charset="0"/>
                  <a:ea typeface="Open Sans Bold" pitchFamily="34" charset="-122"/>
                  <a:cs typeface="Open Sans Bold" pitchFamily="34" charset="-120"/>
                </a:rPr>
                <a:t>colaboração ágil</a:t>
              </a:r>
              <a:r>
                <a:rPr lang="pt-BR" sz="1150" noProof="0" dirty="0">
                  <a:latin typeface="Open Sans" pitchFamily="34" charset="0"/>
                  <a:ea typeface="Open Sans" pitchFamily="34" charset="-122"/>
                  <a:cs typeface="Open Sans" pitchFamily="34" charset="-120"/>
                </a:rPr>
                <a:t> é o principal diferencial do </a:t>
              </a:r>
              <a:r>
                <a:rPr lang="pt-BR" sz="1150" noProof="0" dirty="0" err="1">
                  <a:latin typeface="Open Sans" pitchFamily="34" charset="0"/>
                  <a:ea typeface="Open Sans" pitchFamily="34" charset="-122"/>
                  <a:cs typeface="Open Sans" pitchFamily="34" charset="-120"/>
                </a:rPr>
                <a:t>Lucidchart</a:t>
              </a:r>
              <a:r>
                <a:rPr lang="pt-BR" sz="1150" noProof="0" dirty="0">
                  <a:latin typeface="Open Sans" pitchFamily="34" charset="0"/>
                  <a:ea typeface="Open Sans" pitchFamily="34" charset="-122"/>
                  <a:cs typeface="Open Sans" pitchFamily="34" charset="-120"/>
                </a:rPr>
                <a:t> em relação a ferramentas concorrentes, sendo determinante para a escolha da plataforma em contextos onde equipes distribuídas precisam trabalhar de forma sincronizada.</a:t>
              </a:r>
              <a:endParaRPr lang="pt-BR" sz="1150" noProof="0" dirty="0"/>
            </a:p>
          </p:txBody>
        </p:sp>
      </p:grpSp>
      <p:sp>
        <p:nvSpPr>
          <p:cNvPr id="23" name="Retângulo 22">
            <a:extLst>
              <a:ext uri="{FF2B5EF4-FFF2-40B4-BE49-F238E27FC236}">
                <a16:creationId xmlns:a16="http://schemas.microsoft.com/office/drawing/2014/main" id="{0B3528DF-FAFD-D0D8-E4D2-E81A800E1204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1028218" y="6502400"/>
            <a:ext cx="1089891" cy="277091"/>
          </a:xfrm>
          <a:prstGeom prst="rect">
            <a:avLst/>
          </a:prstGeom>
          <a:solidFill>
            <a:srgbClr val="FBFAFF"/>
          </a:solidFill>
          <a:ln>
            <a:solidFill>
              <a:srgbClr val="FBFA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687BD9-5C4F-36B9-609B-7C9239A7E8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A778E8CC-58D8-28B5-A0D8-1F688EE9F207}"/>
              </a:ext>
            </a:extLst>
          </p:cNvPr>
          <p:cNvSpPr/>
          <p:nvPr/>
        </p:nvSpPr>
        <p:spPr>
          <a:xfrm>
            <a:off x="661475" y="511671"/>
            <a:ext cx="10868745" cy="45789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pt-BR" sz="2850" noProof="0" dirty="0">
                <a:solidFill>
                  <a:srgbClr val="403CCF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Uso na indústria</a:t>
            </a:r>
            <a:endParaRPr lang="pt-BR" sz="2850" noProof="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8D311171-15D5-362D-9E4D-33357790AB6C}"/>
              </a:ext>
            </a:extLst>
          </p:cNvPr>
          <p:cNvSpPr/>
          <p:nvPr/>
        </p:nvSpPr>
        <p:spPr>
          <a:xfrm>
            <a:off x="4364779" y="6060281"/>
            <a:ext cx="3462133" cy="44211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>
              <a:lnSpc>
                <a:spcPct val="126000"/>
              </a:lnSpc>
            </a:pPr>
            <a:r>
              <a:rPr lang="pt-BR" sz="1150" dirty="0">
                <a:solidFill>
                  <a:srgbClr val="49495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https://www.joinsecret.com/pt/lucidchart/reviews</a:t>
            </a:r>
            <a:endParaRPr lang="pt-BR" sz="1150" noProof="0" dirty="0"/>
          </a:p>
        </p:txBody>
      </p:sp>
      <p:sp>
        <p:nvSpPr>
          <p:cNvPr id="23" name="Retângulo 22">
            <a:extLst>
              <a:ext uri="{FF2B5EF4-FFF2-40B4-BE49-F238E27FC236}">
                <a16:creationId xmlns:a16="http://schemas.microsoft.com/office/drawing/2014/main" id="{7E224D00-66F0-82C5-B11A-BF7635E80EAA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1028218" y="6502400"/>
            <a:ext cx="1089891" cy="277091"/>
          </a:xfrm>
          <a:prstGeom prst="rect">
            <a:avLst/>
          </a:prstGeom>
          <a:solidFill>
            <a:srgbClr val="FBFAFF"/>
          </a:solidFill>
          <a:ln>
            <a:solidFill>
              <a:srgbClr val="FBFA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pic>
        <p:nvPicPr>
          <p:cNvPr id="21" name="Imagem 20">
            <a:extLst>
              <a:ext uri="{FF2B5EF4-FFF2-40B4-BE49-F238E27FC236}">
                <a16:creationId xmlns:a16="http://schemas.microsoft.com/office/drawing/2014/main" id="{55BC7A85-A97A-0572-23F3-F6F65B2DFEA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72219" y="1126405"/>
            <a:ext cx="8047255" cy="48148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4178619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7AA954-3B34-F020-A557-13A794D541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A5D96F1D-FEB6-ED2F-39FC-42C005F85411}"/>
              </a:ext>
            </a:extLst>
          </p:cNvPr>
          <p:cNvSpPr/>
          <p:nvPr/>
        </p:nvSpPr>
        <p:spPr>
          <a:xfrm>
            <a:off x="661475" y="511671"/>
            <a:ext cx="10868745" cy="45789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pt-BR" sz="2850" noProof="0" dirty="0">
                <a:solidFill>
                  <a:srgbClr val="403CCF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Prós e contras das avaliações</a:t>
            </a:r>
            <a:endParaRPr lang="pt-BR" sz="2850" noProof="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159D7FB6-1EFA-641F-8CB0-92A56CEC0C05}"/>
              </a:ext>
            </a:extLst>
          </p:cNvPr>
          <p:cNvSpPr/>
          <p:nvPr/>
        </p:nvSpPr>
        <p:spPr>
          <a:xfrm>
            <a:off x="4364779" y="6060281"/>
            <a:ext cx="3462133" cy="44211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>
              <a:lnSpc>
                <a:spcPct val="126000"/>
              </a:lnSpc>
            </a:pPr>
            <a:r>
              <a:rPr lang="pt-BR" sz="1150" dirty="0">
                <a:solidFill>
                  <a:srgbClr val="49495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https://www.joinsecret.com/pt/lucidchart/reviews</a:t>
            </a:r>
            <a:endParaRPr lang="pt-BR" sz="1150" noProof="0" dirty="0"/>
          </a:p>
        </p:txBody>
      </p:sp>
      <p:sp>
        <p:nvSpPr>
          <p:cNvPr id="23" name="Retângulo 22">
            <a:extLst>
              <a:ext uri="{FF2B5EF4-FFF2-40B4-BE49-F238E27FC236}">
                <a16:creationId xmlns:a16="http://schemas.microsoft.com/office/drawing/2014/main" id="{714EB794-2046-9841-2FA5-2DD3B1DE4E57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1028218" y="6502400"/>
            <a:ext cx="1089891" cy="277091"/>
          </a:xfrm>
          <a:prstGeom prst="rect">
            <a:avLst/>
          </a:prstGeom>
          <a:solidFill>
            <a:srgbClr val="FBFAFF"/>
          </a:solidFill>
          <a:ln>
            <a:solidFill>
              <a:srgbClr val="FBFA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94FF9777-C8DE-D123-AC56-F25B54B5D60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25092" y="1030067"/>
            <a:ext cx="9341505" cy="49697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1837987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18F4F1-5F37-5F39-96C6-85163375F7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7CAF61A8-64C0-FADD-49A3-14E98BB154FB}"/>
              </a:ext>
            </a:extLst>
          </p:cNvPr>
          <p:cNvSpPr/>
          <p:nvPr/>
        </p:nvSpPr>
        <p:spPr>
          <a:xfrm>
            <a:off x="661475" y="511671"/>
            <a:ext cx="10868745" cy="45789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pt-BR" sz="2850" noProof="0" dirty="0">
                <a:solidFill>
                  <a:srgbClr val="403CCF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Prós e contras das avaliações</a:t>
            </a:r>
            <a:endParaRPr lang="pt-BR" sz="2850" noProof="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0A08580F-14E5-0563-87E2-967A4D180456}"/>
              </a:ext>
            </a:extLst>
          </p:cNvPr>
          <p:cNvSpPr/>
          <p:nvPr/>
        </p:nvSpPr>
        <p:spPr>
          <a:xfrm>
            <a:off x="4364779" y="6060281"/>
            <a:ext cx="3462133" cy="44211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>
              <a:lnSpc>
                <a:spcPct val="126000"/>
              </a:lnSpc>
            </a:pPr>
            <a:r>
              <a:rPr lang="pt-BR" sz="1150" dirty="0">
                <a:solidFill>
                  <a:srgbClr val="49495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https://www.joinsecret.com/pt/lucidchart/reviews</a:t>
            </a:r>
            <a:endParaRPr lang="pt-BR" sz="1150" noProof="0" dirty="0"/>
          </a:p>
        </p:txBody>
      </p:sp>
      <p:sp>
        <p:nvSpPr>
          <p:cNvPr id="23" name="Retângulo 22">
            <a:extLst>
              <a:ext uri="{FF2B5EF4-FFF2-40B4-BE49-F238E27FC236}">
                <a16:creationId xmlns:a16="http://schemas.microsoft.com/office/drawing/2014/main" id="{06B6BF06-9662-38CB-2F86-48F70B35FBE1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1028218" y="6502400"/>
            <a:ext cx="1089891" cy="277091"/>
          </a:xfrm>
          <a:prstGeom prst="rect">
            <a:avLst/>
          </a:prstGeom>
          <a:solidFill>
            <a:srgbClr val="FBFAFF"/>
          </a:solidFill>
          <a:ln>
            <a:solidFill>
              <a:srgbClr val="FBFA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342F2A98-BE55-087E-DAD3-81F0A74198E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61976" y="969566"/>
            <a:ext cx="9267738" cy="50450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9971921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347</TotalTime>
  <Words>1369</Words>
  <Application>Microsoft Office PowerPoint</Application>
  <PresentationFormat>Widescreen</PresentationFormat>
  <Paragraphs>139</Paragraphs>
  <Slides>19</Slides>
  <Notes>19</Notes>
  <HiddenSlides>0</HiddenSlides>
  <MMClips>0</MMClips>
  <ScaleCrop>false</ScaleCrop>
  <HeadingPairs>
    <vt:vector size="6" baseType="variant">
      <vt:variant>
        <vt:lpstr>Fontes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19</vt:i4>
      </vt:variant>
    </vt:vector>
  </HeadingPairs>
  <TitlesOfParts>
    <vt:vector size="24" baseType="lpstr">
      <vt:lpstr>Open Sans</vt:lpstr>
      <vt:lpstr>Open Sans Bold</vt:lpstr>
      <vt:lpstr>Libre Baskerville</vt:lpstr>
      <vt:lpstr>Arial</vt:lpstr>
      <vt:lpstr>Office Theme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Gustavo Schopf Anibele</dc:creator>
  <cp:lastModifiedBy>Laboratório</cp:lastModifiedBy>
  <cp:revision>6</cp:revision>
  <dcterms:created xsi:type="dcterms:W3CDTF">2026-09-03T20:50:29Z</dcterms:created>
  <dcterms:modified xsi:type="dcterms:W3CDTF">2026-09-11T23:28:51Z</dcterms:modified>
</cp:coreProperties>
</file>