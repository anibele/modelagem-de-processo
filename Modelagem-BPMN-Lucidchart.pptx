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Libre Baskerville" panose="02000000000000000000" pitchFamily="2" charset="0"/>
      <p:regular r:id="rId13"/>
    </p:embeddedFont>
    <p:embeddedFont>
      <p:font typeface="Open Sans" panose="020B0606030504020204" pitchFamily="34" charset="0"/>
      <p:regular r:id="rId14"/>
    </p:embeddedFont>
    <p:embeddedFont>
      <p:font typeface="Open Sans Bold" panose="020B0806030504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D6F5"/>
    <a:srgbClr val="EAE8F3"/>
    <a:srgbClr val="FB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6733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F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640" y="713550"/>
            <a:ext cx="3134670" cy="31347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8241" y="723619"/>
            <a:ext cx="3251119" cy="3134749"/>
          </a:xfrm>
          <a:prstGeom prst="rect">
            <a:avLst/>
          </a:prstGeom>
        </p:spPr>
      </p:pic>
      <p:grpSp>
        <p:nvGrpSpPr>
          <p:cNvPr id="12" name="Agrupar 11">
            <a:extLst>
              <a:ext uri="{FF2B5EF4-FFF2-40B4-BE49-F238E27FC236}">
                <a16:creationId xmlns:a16="http://schemas.microsoft.com/office/drawing/2014/main" id="{53630F7D-909F-5181-7D93-CCE924874B8A}"/>
              </a:ext>
            </a:extLst>
          </p:cNvPr>
          <p:cNvGrpSpPr/>
          <p:nvPr/>
        </p:nvGrpSpPr>
        <p:grpSpPr>
          <a:xfrm>
            <a:off x="661475" y="4068961"/>
            <a:ext cx="10868745" cy="570805"/>
            <a:chOff x="661475" y="4803577"/>
            <a:chExt cx="10868745" cy="570805"/>
          </a:xfrm>
        </p:grpSpPr>
        <p:sp>
          <p:nvSpPr>
            <p:cNvPr id="4" name="Text 0"/>
            <p:cNvSpPr/>
            <p:nvPr/>
          </p:nvSpPr>
          <p:spPr>
            <a:xfrm>
              <a:off x="661475" y="4803577"/>
              <a:ext cx="10868745" cy="38764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2400" dirty="0">
                  <a:solidFill>
                    <a:srgbClr val="403CCF"/>
                  </a:solidFill>
                  <a:latin typeface="Libre Baskerville" pitchFamily="34" charset="0"/>
                  <a:ea typeface="Libre Baskerville" pitchFamily="34" charset="-122"/>
                  <a:cs typeface="Libre Baskerville" pitchFamily="34" charset="-120"/>
                </a:rPr>
                <a:t>Ferramentas de Modelagem BPMN: Uma Análise do Lucidchart</a:t>
              </a:r>
              <a:endParaRPr lang="en-US" sz="2400" dirty="0"/>
            </a:p>
          </p:txBody>
        </p:sp>
        <p:sp>
          <p:nvSpPr>
            <p:cNvPr id="5" name="Shape 1"/>
            <p:cNvSpPr/>
            <p:nvPr/>
          </p:nvSpPr>
          <p:spPr>
            <a:xfrm>
              <a:off x="661475" y="5361682"/>
              <a:ext cx="10868745" cy="12700"/>
            </a:xfrm>
            <a:prstGeom prst="roundRect">
              <a:avLst>
                <a:gd name="adj" fmla="val 49999"/>
              </a:avLst>
            </a:prstGeom>
            <a:solidFill>
              <a:srgbClr val="49495A">
                <a:alpha val="50000"/>
              </a:srgbClr>
            </a:solidFill>
            <a:ln/>
          </p:spPr>
          <p:txBody>
            <a:bodyPr/>
            <a:lstStyle/>
            <a:p>
              <a:endParaRPr lang="pt-BR"/>
            </a:p>
          </p:txBody>
        </p: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AF976B83-6E49-859C-08B9-69068B6641FF}"/>
              </a:ext>
            </a:extLst>
          </p:cNvPr>
          <p:cNvGrpSpPr/>
          <p:nvPr/>
        </p:nvGrpSpPr>
        <p:grpSpPr>
          <a:xfrm>
            <a:off x="1316905" y="4810223"/>
            <a:ext cx="10875095" cy="688181"/>
            <a:chOff x="661475" y="5593556"/>
            <a:chExt cx="10875095" cy="688181"/>
          </a:xfrm>
        </p:grpSpPr>
        <p:sp>
          <p:nvSpPr>
            <p:cNvPr id="6" name="Text 2"/>
            <p:cNvSpPr/>
            <p:nvPr/>
          </p:nvSpPr>
          <p:spPr>
            <a:xfrm>
              <a:off x="661475" y="5593556"/>
              <a:ext cx="5283068" cy="6881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17000"/>
                </a:lnSpc>
                <a:spcAft>
                  <a:spcPts val="650"/>
                </a:spcAft>
                <a:buNone/>
              </a:pPr>
              <a:r>
                <a:rPr lang="en-US" sz="1600" b="1" dirty="0">
                  <a:solidFill>
                    <a:srgbClr val="49495A"/>
                  </a:solidFill>
                  <a:latin typeface="Arial" panose="020B0604020202020204" pitchFamily="34" charset="0"/>
                  <a:ea typeface="Open Sans Bold" pitchFamily="34" charset="-122"/>
                  <a:cs typeface="Arial" panose="020B0604020202020204" pitchFamily="34" charset="0"/>
                </a:rPr>
                <a:t>Alunos:</a:t>
              </a:r>
              <a:r>
                <a:rPr lang="en-US" sz="1600" dirty="0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 Gustavo Anibele, Igor Ribas e Giuliano Trevisan</a:t>
              </a:r>
              <a:endParaRPr 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indent="0" algn="l">
                <a:lnSpc>
                  <a:spcPct val="117000"/>
                </a:lnSpc>
                <a:buNone/>
              </a:pPr>
              <a:r>
                <a:rPr lang="en-US" sz="1600" b="1" dirty="0">
                  <a:solidFill>
                    <a:srgbClr val="49495A"/>
                  </a:solidFill>
                  <a:latin typeface="Arial" panose="020B0604020202020204" pitchFamily="34" charset="0"/>
                  <a:ea typeface="Open Sans Bold" pitchFamily="34" charset="-122"/>
                  <a:cs typeface="Arial" panose="020B0604020202020204" pitchFamily="34" charset="0"/>
                </a:rPr>
                <a:t>Disciplina:</a:t>
              </a:r>
              <a:r>
                <a:rPr lang="en-US" sz="1600" dirty="0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 Modelagem de Processos</a:t>
              </a:r>
              <a:endParaRPr 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 3"/>
            <p:cNvSpPr/>
            <p:nvPr/>
          </p:nvSpPr>
          <p:spPr>
            <a:xfrm>
              <a:off x="6253502" y="5593556"/>
              <a:ext cx="5283068" cy="6881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17000"/>
                </a:lnSpc>
                <a:spcAft>
                  <a:spcPts val="650"/>
                </a:spcAft>
                <a:buNone/>
              </a:pPr>
              <a:r>
                <a:rPr lang="en-US" sz="1600" b="1" dirty="0">
                  <a:solidFill>
                    <a:srgbClr val="49495A"/>
                  </a:solidFill>
                  <a:latin typeface="Arial" panose="020B0604020202020204" pitchFamily="34" charset="0"/>
                  <a:ea typeface="Open Sans Bold" pitchFamily="34" charset="-122"/>
                  <a:cs typeface="Arial" panose="020B0604020202020204" pitchFamily="34" charset="0"/>
                </a:rPr>
                <a:t>Curso:</a:t>
              </a:r>
              <a:r>
                <a:rPr lang="en-US" sz="1600" dirty="0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 Sistemas de </a:t>
              </a:r>
              <a:r>
                <a:rPr lang="en-US" sz="1600" dirty="0" err="1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Informação</a:t>
              </a:r>
              <a:endParaRPr 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0" indent="0" algn="l">
                <a:lnSpc>
                  <a:spcPct val="117000"/>
                </a:lnSpc>
                <a:buNone/>
              </a:pPr>
              <a:r>
                <a:rPr lang="en-US" sz="1600" b="1" dirty="0">
                  <a:solidFill>
                    <a:srgbClr val="49495A"/>
                  </a:solidFill>
                  <a:latin typeface="Arial" panose="020B0604020202020204" pitchFamily="34" charset="0"/>
                  <a:ea typeface="Open Sans Bold" pitchFamily="34" charset="-122"/>
                  <a:cs typeface="Arial" panose="020B0604020202020204" pitchFamily="34" charset="0"/>
                </a:rPr>
                <a:t>Professor:</a:t>
              </a:r>
              <a:r>
                <a:rPr lang="en-US" sz="1600" dirty="0">
                  <a:solidFill>
                    <a:srgbClr val="49495A"/>
                  </a:solidFill>
                  <a:latin typeface="Arial" panose="020B0604020202020204" pitchFamily="34" charset="0"/>
                  <a:ea typeface="Open Sans" pitchFamily="34" charset="-122"/>
                  <a:cs typeface="Arial" panose="020B0604020202020204" pitchFamily="34" charset="0"/>
                </a:rPr>
                <a:t> Herysson Figueiredo</a:t>
              </a:r>
              <a:endParaRPr 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" name="Retângulo 8">
            <a:extLst>
              <a:ext uri="{FF2B5EF4-FFF2-40B4-BE49-F238E27FC236}">
                <a16:creationId xmlns:a16="http://schemas.microsoft.com/office/drawing/2014/main" id="{2022F7E4-5122-0E75-63A2-9C20B126C56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10394"/>
            <a:ext cx="10868745" cy="508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Introdução e Objetivo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61475" y="1439565"/>
            <a:ext cx="10868745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seminário tem como propósito central apresentar e analisar o </a:t>
            </a:r>
            <a:r>
              <a:rPr lang="en-US" sz="12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Lucidchart</a:t>
            </a: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como ferramenta de modelagem BPMN, situando-a no contexto mais amplo da gestão e documentação de processos organizacionais. Os objetivos que norteiam esta apresentação são:</a:t>
            </a:r>
            <a:endParaRPr lang="en-US" sz="12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136775"/>
            <a:ext cx="5354206" cy="19752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16492" y="2247404"/>
            <a:ext cx="244171" cy="305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843239" y="2804418"/>
            <a:ext cx="4990677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Explorar ferramentas BPMN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43239" y="3154859"/>
            <a:ext cx="4990677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Compreender as ferramentas de modelagem BPMN (</a:t>
            </a:r>
            <a:r>
              <a:rPr lang="en-US" sz="1250" i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Business Process Model and Notation</a:t>
            </a: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) como instrumentos essenciais para a documentação e otimização de processos organizacionais.</a:t>
            </a:r>
            <a:endParaRPr lang="en-US" sz="12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5915" y="2136775"/>
            <a:ext cx="5354305" cy="197524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730932" y="2247404"/>
            <a:ext cx="244171" cy="305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6357679" y="2804418"/>
            <a:ext cx="4990777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Apresentar o Lucidchart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6357679" y="3154859"/>
            <a:ext cx="4990777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Contextualizar o Lucidchart como solução baseada em nuvem para modelagem colaborativa de processos, destacando seus diferenciais em relação a ferramentas concorrentes.</a:t>
            </a:r>
            <a:endParaRPr lang="en-US" sz="12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272260"/>
            <a:ext cx="5354206" cy="19752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216492" y="4382889"/>
            <a:ext cx="244171" cy="305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3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843239" y="4939903"/>
            <a:ext cx="4990677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Analisar funcionalidades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843239" y="5290344"/>
            <a:ext cx="4990677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Examinar as funcionalidades, aplicabilidades e limitações da ferramenta nos contextos acadêmico e corporativo, com base em critérios técnicos objetivos.</a:t>
            </a:r>
            <a:endParaRPr lang="en-US" sz="12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5915" y="4272260"/>
            <a:ext cx="5354305" cy="197524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730932" y="4382889"/>
            <a:ext cx="244171" cy="305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</a:t>
            </a:r>
            <a:endParaRPr lang="en-US" sz="1900" dirty="0"/>
          </a:p>
        </p:txBody>
      </p:sp>
      <p:sp>
        <p:nvSpPr>
          <p:cNvPr id="18" name="Text 12"/>
          <p:cNvSpPr/>
          <p:nvPr/>
        </p:nvSpPr>
        <p:spPr>
          <a:xfrm>
            <a:off x="6357679" y="4939903"/>
            <a:ext cx="4990777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Demonstrar a relevância BPMN 2.0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6357679" y="5290344"/>
            <a:ext cx="4990777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Evidenciar a importância da notação BPMN 2.0 como padrão internacional para a padronização e comunicação de diagramas de processos entre diferentes partes interessadas.</a:t>
            </a:r>
            <a:endParaRPr lang="en-US" sz="1250" dirty="0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3247209D-70E4-B88E-09D7-FE650C72246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64170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Visão Geral do Lucidchart</a:t>
            </a:r>
            <a:endParaRPr lang="en-US" sz="3250" dirty="0"/>
          </a:p>
        </p:txBody>
      </p:sp>
      <p:sp>
        <p:nvSpPr>
          <p:cNvPr id="3" name="Shape 1"/>
          <p:cNvSpPr/>
          <p:nvPr/>
        </p:nvSpPr>
        <p:spPr>
          <a:xfrm>
            <a:off x="542415" y="1428948"/>
            <a:ext cx="4343490" cy="4764782"/>
          </a:xfrm>
          <a:prstGeom prst="roundRect">
            <a:avLst>
              <a:gd name="adj" fmla="val 571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07710" y="1594247"/>
            <a:ext cx="401290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Identificação da Plataforma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07710" y="2018010"/>
            <a:ext cx="4012901" cy="2943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150"/>
              </a:spcAft>
              <a:buNone/>
            </a:pPr>
            <a:r>
              <a:rPr lang="en-US" sz="1300" b="1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Desenvolvedor:</a:t>
            </a:r>
            <a:r>
              <a:rPr lang="en-US" sz="130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Lucid Software, empresa especializada em soluções de visualização colaborativa.</a:t>
            </a:r>
            <a:endParaRPr lang="en-US" sz="1300" dirty="0"/>
          </a:p>
          <a:p>
            <a:pPr marL="0" indent="0" algn="l">
              <a:lnSpc>
                <a:spcPct val="133000"/>
              </a:lnSpc>
              <a:spcAft>
                <a:spcPts val="1150"/>
              </a:spcAft>
              <a:buNone/>
            </a:pPr>
            <a:r>
              <a:rPr lang="en-US" sz="1300" b="1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Natureza:</a:t>
            </a:r>
            <a:r>
              <a:rPr lang="en-US" sz="130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Plataforma 100% baseada em nuvem, com suporte a colaboração simultânea em tempo real, sem necessidade de instalação local.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Aplicabilidade:</a:t>
            </a:r>
            <a:r>
              <a:rPr lang="en-US" sz="130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Adequada tanto para ambientes acadêmicos quanto para contextos corporativos de diferentes portes, desde startups até grandes empresas.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176609" y="1594247"/>
            <a:ext cx="6359862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Características Principais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8619" y="2046883"/>
            <a:ext cx="248041" cy="2480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713964" y="2038747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Interface intuitiva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acessível para usuários de diferentes níveis de experiência em modelagem de processos.</a:t>
            </a:r>
            <a:endParaRPr lang="en-US" sz="13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8619" y="2906812"/>
            <a:ext cx="248041" cy="2480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713964" y="2898676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Suporte nativo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 múltiplas notações de modelagem, com destaque para a conformidade completa com o padrão BPMN 2.0.</a:t>
            </a:r>
            <a:endParaRPr lang="en-US" sz="13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8619" y="3766741"/>
            <a:ext cx="248041" cy="24804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713964" y="3758605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Colaboração em tempo real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permitindo trabalho simultâneo de múltiplos usuários no mesmo diagrama.</a:t>
            </a:r>
            <a:endParaRPr lang="en-US" sz="13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8619" y="4626670"/>
            <a:ext cx="248041" cy="2480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713964" y="4618534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Integração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com ferramentas corporativas e acadêmicas amplamente utilizadas no mercado.</a:t>
            </a:r>
            <a:endParaRPr lang="en-US" sz="13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8619" y="5486598"/>
            <a:ext cx="248041" cy="24804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713964" y="5478462"/>
            <a:ext cx="582250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Disponibilidade web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eliminando a necessidade de instalação e manutenção de software local.</a:t>
            </a:r>
            <a:endParaRPr lang="en-US" sz="1300" dirty="0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29F5DB3E-B79E-CD10-7F3B-51F362D79FD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6852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Simbologia e Suporte à Notação BPMN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1374279"/>
            <a:ext cx="10868745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Lucidchart oferece </a:t>
            </a: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suporte nativo e completo à notação BPMN 2.0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padrão internacional para modelagem de processos estabelecido pelo Object Management Group (OMG). As bibliotecas de formas padronizadas disponíveis cobrem todos os elementos essenciais da notação: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2354163"/>
            <a:ext cx="5351725" cy="1482130"/>
          </a:xfrm>
          <a:prstGeom prst="roundRect">
            <a:avLst>
              <a:gd name="adj" fmla="val 1674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826769" y="2519462"/>
            <a:ext cx="50211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Eventos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6769" y="2877145"/>
            <a:ext cx="5021137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Eventos de </a:t>
            </a: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início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intermediários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de </a:t>
            </a: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fim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processos, claramente diferenciados por espessura e preenchimento de borda, conforme o padrão BPMN 2.0.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8495" y="2354163"/>
            <a:ext cx="5351725" cy="1482130"/>
          </a:xfrm>
          <a:prstGeom prst="roundRect">
            <a:avLst>
              <a:gd name="adj" fmla="val 1674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343789" y="2519462"/>
            <a:ext cx="50211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Atividades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43789" y="2877145"/>
            <a:ext cx="5021137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Tarefas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subprocessos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processos chamados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com representações visuais distintas que indicam o tipo de execução e responsabilidade.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1475" y="4001591"/>
            <a:ext cx="5351725" cy="1217513"/>
          </a:xfrm>
          <a:prstGeom prst="roundRect">
            <a:avLst>
              <a:gd name="adj" fmla="val 203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826769" y="4166890"/>
            <a:ext cx="50211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Gateways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6769" y="4524573"/>
            <a:ext cx="502113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Elementos de decisão, paralelização e sincronização de fluxos: </a:t>
            </a: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exclusivo (XOR)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inclusivo (OR)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paralelo (AND)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entre outros.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8495" y="4001591"/>
            <a:ext cx="5351725" cy="1217513"/>
          </a:xfrm>
          <a:prstGeom prst="roundRect">
            <a:avLst>
              <a:gd name="adj" fmla="val 203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343789" y="4166890"/>
            <a:ext cx="5021137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Artefatos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43789" y="4524573"/>
            <a:ext cx="5021137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Anotações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</a:t>
            </a: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grupos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objetos de dados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enriquecimento semântico do diagrama e maior clareza comunicacional.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1475" y="5405140"/>
            <a:ext cx="10868745" cy="925909"/>
          </a:xfrm>
          <a:prstGeom prst="roundRect">
            <a:avLst>
              <a:gd name="adj" fmla="val 2679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69" y="5644852"/>
            <a:ext cx="206667" cy="16529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198731" y="5611713"/>
            <a:ext cx="1016619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Todas as formas estão pré-configuradas e prontas para uso, eliminando a necessidade de customização manual de símbolos e garantindo conformidade com o padrão BPMN — o que acelera significativamente o processo de modelagem.</a:t>
            </a:r>
            <a:endParaRPr lang="en-US" sz="1300" dirty="0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6B84CF5C-E7DB-2859-8FCE-02D0F7BFE2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2925"/>
            <a:ext cx="1086874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Interface e Usabilidade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61475" y="1342926"/>
            <a:ext cx="5814371" cy="232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Paradigma de Interação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1709341"/>
            <a:ext cx="5814371" cy="1131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Lucidchart adota o paradigma </a:t>
            </a:r>
            <a:r>
              <a:rPr lang="en-US" sz="1150" b="1" i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drag-and-drop</a:t>
            </a: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(arrastar e soltar) como principal mecanismo de construção de diagramas, permitindo a composição rápida de fluxos sem curva de aprendizado acentuada. Essa escolha de design reduz significativamente a barreira de entrada para usuários sem experiência prévia em modelagem de processos.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61475" y="2974380"/>
            <a:ext cx="5814371" cy="232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Recursos de Facilidade de Uso</a:t>
            </a:r>
            <a:endParaRPr lang="en-US" sz="1450" dirty="0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7BD793A3-381B-4735-2680-2D46A8A8E1D2}"/>
              </a:ext>
            </a:extLst>
          </p:cNvPr>
          <p:cNvGrpSpPr/>
          <p:nvPr/>
        </p:nvGrpSpPr>
        <p:grpSpPr>
          <a:xfrm>
            <a:off x="655529" y="3265091"/>
            <a:ext cx="5345574" cy="2758381"/>
            <a:chOff x="1130272" y="3405882"/>
            <a:chExt cx="5345574" cy="2758381"/>
          </a:xfrm>
        </p:grpSpPr>
        <p:sp>
          <p:nvSpPr>
            <p:cNvPr id="7" name="Text 5"/>
            <p:cNvSpPr/>
            <p:nvPr/>
          </p:nvSpPr>
          <p:spPr>
            <a:xfrm>
              <a:off x="1130272" y="3405882"/>
              <a:ext cx="5345574" cy="452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7000"/>
                </a:lnSpc>
                <a:buNone/>
              </a:pPr>
              <a:r>
                <a:rPr lang="en-US" sz="1150" b="1" dirty="0">
                  <a:solidFill>
                    <a:srgbClr val="49495A"/>
                  </a:solidFill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Alinhamento automático</a:t>
              </a:r>
              <a:r>
                <a:rPr lang="en-US" sz="115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de elementos para manutenção da estética visual e legibilidade do diagrama.</a:t>
              </a:r>
              <a:endParaRPr lang="en-US" sz="11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1130272" y="4174530"/>
              <a:ext cx="5345574" cy="452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7000"/>
                </a:lnSpc>
                <a:buNone/>
              </a:pPr>
              <a:r>
                <a:rPr lang="en-US" sz="1150" b="1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Grade de desenho (</a:t>
              </a:r>
              <a:r>
                <a:rPr lang="en-US" sz="1150" b="1" i="1" dirty="0">
                  <a:solidFill>
                    <a:srgbClr val="49495A"/>
                  </a:solidFill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grid</a:t>
              </a:r>
              <a:r>
                <a:rPr lang="en-US" sz="1150" b="1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)</a:t>
              </a:r>
              <a:r>
                <a:rPr lang="en-US" sz="115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para posicionamento preciso de componentes no canvas.</a:t>
              </a:r>
              <a:endParaRPr lang="en-US" sz="11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130272" y="4943177"/>
              <a:ext cx="5345574" cy="452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7000"/>
                </a:lnSpc>
                <a:buNone/>
              </a:pPr>
              <a:r>
                <a:rPr lang="en-US" sz="1150" b="1" dirty="0">
                  <a:solidFill>
                    <a:srgbClr val="49495A"/>
                  </a:solidFill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Customização flexível</a:t>
              </a:r>
              <a:r>
                <a:rPr lang="en-US" sz="115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de cores, estilos e propriedades de formas, sem comprometer a conformidade com o padrão.</a:t>
              </a:r>
              <a:endParaRPr lang="en-US" sz="11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130272" y="5711825"/>
              <a:ext cx="5345574" cy="4524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7000"/>
                </a:lnSpc>
                <a:buNone/>
              </a:pPr>
              <a:r>
                <a:rPr lang="en-US" sz="1150" b="1" dirty="0">
                  <a:solidFill>
                    <a:srgbClr val="49495A"/>
                  </a:solidFill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Zoom e navegação fluida</a:t>
              </a:r>
              <a:r>
                <a:rPr lang="en-US" sz="1150" dirty="0">
                  <a:solidFill>
                    <a:srgbClr val="49495A"/>
                  </a:solidFill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em diagramas de qualquer tamanho e complexidade.</a:t>
              </a:r>
              <a:endParaRPr lang="en-US" sz="1150" dirty="0"/>
            </a:p>
          </p:txBody>
        </p:sp>
      </p:grpSp>
      <p:sp>
        <p:nvSpPr>
          <p:cNvPr id="14" name="Shape 12"/>
          <p:cNvSpPr/>
          <p:nvPr/>
        </p:nvSpPr>
        <p:spPr>
          <a:xfrm>
            <a:off x="6845327" y="1359694"/>
            <a:ext cx="4691144" cy="1905397"/>
          </a:xfrm>
          <a:prstGeom prst="roundRect">
            <a:avLst>
              <a:gd name="adj" fmla="val 1172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152" y="1565672"/>
            <a:ext cx="186031" cy="14882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329006" y="1517452"/>
            <a:ext cx="4058640" cy="1589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📌 </a:t>
            </a:r>
            <a:r>
              <a:rPr lang="en-US" sz="11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Espaço reservado para demonstração:</a:t>
            </a: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[Inserir GIF/Print da interface aqui]</a:t>
            </a:r>
            <a:endParaRPr lang="en-US" sz="1150" dirty="0"/>
          </a:p>
          <a:p>
            <a:pPr marL="0" indent="0" algn="l">
              <a:lnSpc>
                <a:spcPct val="127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Recomenda-se a inserção de uma captura de tela ou animação da interface do Lucidchart em uso, evidenciando os recursos de drag-and-drop e as bibliotecas BPMN disponíveis.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845327" y="3415804"/>
            <a:ext cx="4691144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1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Resultado esperado:</a:t>
            </a: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 interface reduz significativamente o tempo necessário para aprender a ferramenta, tornando-a acessível a usuários sem experiência prévia em modelagem de processos organizacionais.</a:t>
            </a:r>
            <a:endParaRPr lang="en-US" sz="1150" dirty="0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FEC3A629-14EC-CF15-F345-EF4191FB39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6930"/>
            <a:ext cx="10868745" cy="500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Integração de Inteligência Artificial</a:t>
            </a:r>
            <a:endParaRPr lang="en-US" sz="3150" dirty="0"/>
          </a:p>
        </p:txBody>
      </p:sp>
      <p:sp>
        <p:nvSpPr>
          <p:cNvPr id="3" name="Text 1"/>
          <p:cNvSpPr/>
          <p:nvPr/>
        </p:nvSpPr>
        <p:spPr>
          <a:xfrm>
            <a:off x="661475" y="1327944"/>
            <a:ext cx="10868745" cy="504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Lucidchart incorpora recursos de </a:t>
            </a:r>
            <a:r>
              <a:rPr lang="en-US" sz="12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inteligência artificial</a:t>
            </a: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que representam um avanço significativo na automação de tarefas de modelagem, posicionando a ferramenta na vanguarda do mercado de gestão de processos.</a:t>
            </a:r>
            <a:endParaRPr lang="en-US" sz="12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007096"/>
            <a:ext cx="400536" cy="40054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2601615"/>
            <a:ext cx="3493603" cy="500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 Automática de Diagramas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661475" y="3195340"/>
            <a:ext cx="3493603" cy="1261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é capaz de criar estruturas de processos completas a partir de </a:t>
            </a:r>
            <a:r>
              <a:rPr lang="en-US" sz="12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descrições textuais em linguagem natural</a:t>
            </a: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reduzindo substancialmente o trabalho manual de construção inicial do diagrama.</a:t>
            </a:r>
            <a:endParaRPr lang="en-US" sz="1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9046" y="2007096"/>
            <a:ext cx="400536" cy="40054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349046" y="2601615"/>
            <a:ext cx="3493603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Sumarização de Processos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4349046" y="2945011"/>
            <a:ext cx="3493603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automática de fluxos complexos com </a:t>
            </a:r>
            <a:r>
              <a:rPr lang="en-US" sz="12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geração de resumos executivos</a:t>
            </a: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facilitando a comunicação dos processos modelados para diferentes públicos e níveis hierárquicos.</a:t>
            </a:r>
            <a:endParaRPr lang="en-US" sz="12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36617" y="2007096"/>
            <a:ext cx="400536" cy="40054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036617" y="2601615"/>
            <a:ext cx="3493603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Sugestões de Otimização</a:t>
            </a:r>
            <a:endParaRPr lang="en-US" sz="1550" dirty="0"/>
          </a:p>
        </p:txBody>
      </p:sp>
      <p:sp>
        <p:nvSpPr>
          <p:cNvPr id="12" name="Text 7"/>
          <p:cNvSpPr/>
          <p:nvPr/>
        </p:nvSpPr>
        <p:spPr>
          <a:xfrm>
            <a:off x="8036617" y="2945011"/>
            <a:ext cx="3493603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Recomendações inteligentes para </a:t>
            </a:r>
            <a:r>
              <a:rPr lang="en-US" sz="12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melhorias no fluxo</a:t>
            </a: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eliminação de redundâncias, apoiando o analista de processos na identificação de ineficiências.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46086" y="4631432"/>
            <a:ext cx="5469694" cy="1709539"/>
          </a:xfrm>
          <a:prstGeom prst="roundRect">
            <a:avLst>
              <a:gd name="adj" fmla="val 1406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9"/>
          <p:cNvSpPr/>
          <p:nvPr/>
        </p:nvSpPr>
        <p:spPr>
          <a:xfrm>
            <a:off x="706221" y="4786610"/>
            <a:ext cx="5149424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Impacto na Produtividade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706221" y="5192117"/>
            <a:ext cx="5149424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25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Os recursos de IA otimizam significativamente o tempo do analista de processos, </a:t>
            </a:r>
            <a:r>
              <a:rPr lang="en-US" sz="1250" b="1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permitindo foco na análise crítica</a:t>
            </a:r>
            <a:r>
              <a:rPr lang="en-US" sz="125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e tomada de decisão estratégica, em vez de despender esforço na construção manual de diagramas.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297653" y="4786610"/>
            <a:ext cx="5238917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Relevância no Mercado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6297653" y="5192117"/>
            <a:ext cx="5238917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integração de IA posiciona o Lucidchart como </a:t>
            </a:r>
            <a:r>
              <a:rPr lang="en-US" sz="12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ferramenta de vanguarda</a:t>
            </a:r>
            <a:r>
              <a:rPr lang="en-US" sz="12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no segmento de modelagem de processos, diferenciando-o de concorrentes que ainda dependem exclusivamente de operação manual.</a:t>
            </a:r>
            <a:endParaRPr lang="en-US" sz="1250" dirty="0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B181F73B-86A8-2BC2-CFE8-B65635A9B3C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41263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Modelo de Precificação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61475" y="1419423"/>
            <a:ext cx="11478330" cy="208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Lucidchart adota um modelo </a:t>
            </a:r>
            <a:r>
              <a:rPr lang="en-US" sz="1100" b="1" i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freemium</a:t>
            </a: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com diferentes níveis de acesso que atendem a perfis distintos de usuários — desde estudantes até grandes organizações.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61475" y="1761827"/>
            <a:ext cx="10868745" cy="3030438"/>
          </a:xfrm>
          <a:prstGeom prst="roundRect">
            <a:avLst>
              <a:gd name="adj" fmla="val 696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661475" y="1761827"/>
            <a:ext cx="5434373" cy="1744166"/>
          </a:xfrm>
          <a:custGeom>
            <a:avLst/>
            <a:gdLst/>
            <a:ahLst/>
            <a:cxnLst/>
            <a:rect l="l" t="t" r="r" b="b"/>
            <a:pathLst>
              <a:path w="5434373" h="1744166">
                <a:moveTo>
                  <a:pt x="17573" y="0"/>
                </a:moveTo>
                <a:lnTo>
                  <a:pt x="5434373" y="0"/>
                </a:lnTo>
                <a:lnTo>
                  <a:pt x="5434373" y="1744166"/>
                </a:lnTo>
                <a:lnTo>
                  <a:pt x="0" y="1744166"/>
                </a:lnTo>
                <a:lnTo>
                  <a:pt x="0" y="17573"/>
                </a:lnTo>
                <a:arcTo wR="17573" hR="17573" stAng="10800000" swAng="5400000"/>
                <a:close/>
              </a:path>
            </a:pathLst>
          </a:cu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801965" y="1902321"/>
            <a:ext cx="515339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🆓</a:t>
            </a:r>
            <a:r>
              <a:rPr lang="en-US" sz="13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Plano Gratuito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01965" y="2199878"/>
            <a:ext cx="5153392" cy="11656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Limite de </a:t>
            </a:r>
            <a:r>
              <a:rPr lang="en-US" sz="11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até 5 diagramas</a:t>
            </a: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simultâneos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Restrições no número de objetos por diagrama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Funcionalidades básicas de colaboração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Adequado para </a:t>
            </a:r>
            <a:r>
              <a:rPr lang="en-US" sz="11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uso educacional inicial</a:t>
            </a: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prototipagem de processos simples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95848" y="1761827"/>
            <a:ext cx="5434373" cy="1744166"/>
          </a:xfrm>
          <a:custGeom>
            <a:avLst/>
            <a:gdLst/>
            <a:ahLst/>
            <a:cxnLst/>
            <a:rect l="l" t="t" r="r" b="b"/>
            <a:pathLst>
              <a:path w="5434373" h="1744166">
                <a:moveTo>
                  <a:pt x="0" y="0"/>
                </a:moveTo>
                <a:lnTo>
                  <a:pt x="5416800" y="0"/>
                </a:lnTo>
                <a:arcTo wR="17573" hR="17573" stAng="16200000" swAng="5400000"/>
                <a:lnTo>
                  <a:pt x="5434373" y="1744166"/>
                </a:lnTo>
                <a:lnTo>
                  <a:pt x="0" y="1744166"/>
                </a:lnTo>
                <a:lnTo>
                  <a:pt x="0" y="0"/>
                </a:lnTo>
                <a:close/>
              </a:path>
            </a:pathLst>
          </a:cu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095848" y="1761827"/>
            <a:ext cx="19050" cy="1744166"/>
          </a:xfrm>
          <a:prstGeom prst="roundRect">
            <a:avLst>
              <a:gd name="adj" fmla="val 49999"/>
            </a:avLst>
          </a:prstGeom>
          <a:solidFill>
            <a:srgbClr val="D0CED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236338" y="1902321"/>
            <a:ext cx="515339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👤</a:t>
            </a:r>
            <a:r>
              <a:rPr lang="en-US" sz="13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Individual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236338" y="2199878"/>
            <a:ext cx="5153392" cy="707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Acesso </a:t>
            </a:r>
            <a:r>
              <a:rPr lang="en-US" sz="11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ilimitado a documentos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Todas as formas e bibliotecas disponíveis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Ideal para </a:t>
            </a:r>
            <a:r>
              <a:rPr lang="en-US" sz="11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profissionais autônomos</a:t>
            </a: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consultores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1475" y="3505994"/>
            <a:ext cx="5434373" cy="1286272"/>
          </a:xfrm>
          <a:custGeom>
            <a:avLst/>
            <a:gdLst/>
            <a:ahLst/>
            <a:cxnLst/>
            <a:rect l="l" t="t" r="r" b="b"/>
            <a:pathLst>
              <a:path w="5434373" h="1286272">
                <a:moveTo>
                  <a:pt x="0" y="0"/>
                </a:moveTo>
                <a:lnTo>
                  <a:pt x="5434373" y="0"/>
                </a:lnTo>
                <a:lnTo>
                  <a:pt x="5434373" y="1286272"/>
                </a:lnTo>
                <a:lnTo>
                  <a:pt x="17573" y="1286272"/>
                </a:lnTo>
                <a:arcTo wR="17573" hR="17573" stAng="5400000" swAng="5400000"/>
                <a:lnTo>
                  <a:pt x="0" y="0"/>
                </a:lnTo>
                <a:close/>
              </a:path>
            </a:pathLst>
          </a:cu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661475" y="3505994"/>
            <a:ext cx="5434373" cy="19050"/>
          </a:xfrm>
          <a:prstGeom prst="roundRect">
            <a:avLst>
              <a:gd name="adj" fmla="val 49999"/>
            </a:avLst>
          </a:prstGeom>
          <a:solidFill>
            <a:srgbClr val="D0CED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801965" y="3646488"/>
            <a:ext cx="515339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👥</a:t>
            </a:r>
            <a:r>
              <a:rPr lang="en-US" sz="13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Equipe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01965" y="3944045"/>
            <a:ext cx="5153392" cy="707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Colaboração avançada entre membros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Gerenciamento de permissões por projeto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Espaços compartilhados</a:t>
            </a: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times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95848" y="3505994"/>
            <a:ext cx="5434373" cy="1286272"/>
          </a:xfrm>
          <a:custGeom>
            <a:avLst/>
            <a:gdLst/>
            <a:ahLst/>
            <a:cxnLst/>
            <a:rect l="l" t="t" r="r" b="b"/>
            <a:pathLst>
              <a:path w="5434373" h="1286272">
                <a:moveTo>
                  <a:pt x="0" y="0"/>
                </a:moveTo>
                <a:lnTo>
                  <a:pt x="5434373" y="0"/>
                </a:lnTo>
                <a:lnTo>
                  <a:pt x="5434373" y="1268699"/>
                </a:lnTo>
                <a:arcTo wR="17573" hR="17573" stAng="0" swAng="5400000"/>
                <a:lnTo>
                  <a:pt x="0" y="1286272"/>
                </a:lnTo>
                <a:lnTo>
                  <a:pt x="0" y="0"/>
                </a:lnTo>
                <a:close/>
              </a:path>
            </a:pathLst>
          </a:cu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6095848" y="3505994"/>
            <a:ext cx="19050" cy="1286272"/>
          </a:xfrm>
          <a:prstGeom prst="roundRect">
            <a:avLst>
              <a:gd name="adj" fmla="val 49999"/>
            </a:avLst>
          </a:prstGeom>
          <a:solidFill>
            <a:srgbClr val="D0CED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6095848" y="3505994"/>
            <a:ext cx="5434373" cy="19050"/>
          </a:xfrm>
          <a:prstGeom prst="roundRect">
            <a:avLst>
              <a:gd name="adj" fmla="val 49999"/>
            </a:avLst>
          </a:prstGeom>
          <a:solidFill>
            <a:srgbClr val="D0CED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6236338" y="3646488"/>
            <a:ext cx="5153392" cy="2259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🏢</a:t>
            </a:r>
            <a:r>
              <a:rPr lang="en-US" sz="13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Corporativo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36338" y="3944045"/>
            <a:ext cx="5153392" cy="707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Recursos empresariais completos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SSO (</a:t>
            </a:r>
            <a:r>
              <a:rPr lang="en-US" sz="1100" i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Single Sign-On</a:t>
            </a: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) e segurança avançada</a:t>
            </a:r>
            <a:endParaRPr lang="en-US" sz="1100" dirty="0"/>
          </a:p>
          <a:p>
            <a:pPr marL="223520" indent="-223520" algn="l">
              <a:lnSpc>
                <a:spcPct val="12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Suporte prioritário e </a:t>
            </a:r>
            <a:r>
              <a:rPr lang="en-US" sz="11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customizações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1475" y="5046067"/>
            <a:ext cx="5262927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Para Estudantes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61475" y="5385098"/>
            <a:ext cx="5262927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plano gratuito oferece </a:t>
            </a:r>
            <a:r>
              <a:rPr lang="en-US" sz="11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funcionalidades suficientes</a:t>
            </a: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a realização de atividades acadêmicas, com limitações aceitáveis para o contexto educacional e de aprendizagem.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73643" y="5046067"/>
            <a:ext cx="5262927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Para Empresas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273643" y="5385098"/>
            <a:ext cx="5262927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investimento nos planos pagos é </a:t>
            </a:r>
            <a:r>
              <a:rPr lang="en-US" sz="11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justificado pela produtividade</a:t>
            </a: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pela colaboração em escala, pela conformidade com padrões internacionais e pela integração com sistemas corporativos existentes.</a:t>
            </a:r>
            <a:endParaRPr lang="en-US" sz="1100" dirty="0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1BD1A2F7-6FCE-6D03-C6D3-2DD0A18156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9855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Exemplo Prático de Processo Mapeado</a:t>
            </a:r>
            <a:endParaRPr lang="en-US" sz="3250" dirty="0"/>
          </a:p>
        </p:txBody>
      </p:sp>
      <p:sp>
        <p:nvSpPr>
          <p:cNvPr id="3" name="Text 1"/>
          <p:cNvSpPr/>
          <p:nvPr/>
        </p:nvSpPr>
        <p:spPr>
          <a:xfrm>
            <a:off x="661475" y="1519932"/>
            <a:ext cx="523266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Demonstração Aplicada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61475" y="1943695"/>
            <a:ext cx="5232666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Apresentação de um processo real modelado pelos alunos utilizando o Lucidchart, com aplicação rigorosa da notação BPMN 2.0. O diagrama produzido evidencia na prática as capacidades da ferramenta discutidas ao longo deste seminário.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61475" y="3188196"/>
            <a:ext cx="5232666" cy="1974255"/>
          </a:xfrm>
          <a:prstGeom prst="roundRect">
            <a:avLst>
              <a:gd name="adj" fmla="val 1257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69" y="3440609"/>
            <a:ext cx="206667" cy="1652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98731" y="3378299"/>
            <a:ext cx="4530116" cy="159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📌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Espaço reservado para visualização: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[Inserir Print do Processo Mapeado aqui]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Recomenda-se a inserção da captura de tela do diagrama BPMN desenvolvido pela equipe, em tamanho suficiente para permitir leitura dos elementos do fluxo.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303904" y="1519932"/>
            <a:ext cx="5232666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Contribuições da Ferramenta no Processo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3904" y="1964432"/>
            <a:ext cx="372061" cy="372070"/>
          </a:xfrm>
          <a:prstGeom prst="roundRect">
            <a:avLst>
              <a:gd name="adj" fmla="val 666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6365914" y="1995438"/>
            <a:ext cx="248041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6841259" y="2018109"/>
            <a:ext cx="4695311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Facilidade na construção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do fluxo através da interface intuitiva de </a:t>
            </a:r>
            <a:r>
              <a:rPr lang="en-US" sz="1300" i="1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drag-and-drop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sem necessidade de conhecimento técnico avançado.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303904" y="3142655"/>
            <a:ext cx="372061" cy="372070"/>
          </a:xfrm>
          <a:prstGeom prst="roundRect">
            <a:avLst>
              <a:gd name="adj" fmla="val 666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365914" y="3173661"/>
            <a:ext cx="248041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</a:t>
            </a:r>
            <a:endParaRPr lang="en-US" sz="1950" dirty="0"/>
          </a:p>
        </p:txBody>
      </p:sp>
      <p:sp>
        <p:nvSpPr>
          <p:cNvPr id="14" name="Text 11"/>
          <p:cNvSpPr/>
          <p:nvPr/>
        </p:nvSpPr>
        <p:spPr>
          <a:xfrm>
            <a:off x="6841259" y="3196332"/>
            <a:ext cx="4695311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Clareza visual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obtida pela aplicação rigorosa da notação BPMN 2.0, garantindo comunicação precisa e não ambígua do processo.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303904" y="4320877"/>
            <a:ext cx="372061" cy="372070"/>
          </a:xfrm>
          <a:prstGeom prst="roundRect">
            <a:avLst>
              <a:gd name="adj" fmla="val 666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6365914" y="4351883"/>
            <a:ext cx="248041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3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6841259" y="4374555"/>
            <a:ext cx="4695311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Iteração rápida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realização de ajustes sem necessidade de reconstrução completa do diagrama.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03904" y="5234484"/>
            <a:ext cx="372061" cy="372070"/>
          </a:xfrm>
          <a:prstGeom prst="roundRect">
            <a:avLst>
              <a:gd name="adj" fmla="val 6668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6365914" y="5265489"/>
            <a:ext cx="248041" cy="3100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5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</a:t>
            </a:r>
            <a:endParaRPr lang="en-US" sz="1950" dirty="0"/>
          </a:p>
        </p:txBody>
      </p:sp>
      <p:sp>
        <p:nvSpPr>
          <p:cNvPr id="20" name="Text 17"/>
          <p:cNvSpPr/>
          <p:nvPr/>
        </p:nvSpPr>
        <p:spPr>
          <a:xfrm>
            <a:off x="6841259" y="5288161"/>
            <a:ext cx="4695311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Documentação automática</a:t>
            </a:r>
            <a:r>
              <a:rPr lang="en-US" sz="13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do processo com símbolos padronizados, resultando em diagrama profissional e compreensível por diferentes públicos.</a:t>
            </a:r>
            <a:endParaRPr lang="en-US" sz="1300" dirty="0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4943525D-66E3-BCBC-F750-1F0330D2826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0231"/>
            <a:ext cx="10868745" cy="490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Análise Crítica: Pontos Fortes e Fracos</a:t>
            </a:r>
            <a:endParaRPr lang="en-US" sz="3050" dirty="0"/>
          </a:p>
        </p:txBody>
      </p:sp>
      <p:sp>
        <p:nvSpPr>
          <p:cNvPr id="3" name="Shape 1"/>
          <p:cNvSpPr/>
          <p:nvPr/>
        </p:nvSpPr>
        <p:spPr>
          <a:xfrm>
            <a:off x="548269" y="1295003"/>
            <a:ext cx="5469098" cy="4982666"/>
          </a:xfrm>
          <a:prstGeom prst="roundRect">
            <a:avLst>
              <a:gd name="adj" fmla="val 473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705328" y="1444228"/>
            <a:ext cx="5154980" cy="2519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✅ Pontos Fortes</a:t>
            </a:r>
            <a:endParaRPr lang="en-US" sz="1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263" y="1871811"/>
            <a:ext cx="235639" cy="2356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15895" y="1864023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b="1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Colaboração em nuvem</a:t>
            </a:r>
            <a:r>
              <a:rPr lang="en-US" sz="120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com sincronização em tempo real entre múltiplos usuários, eliminando conflitos de versão.</a:t>
            </a:r>
            <a:endParaRPr lang="en-US" sz="12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263" y="2660600"/>
            <a:ext cx="235639" cy="2356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15895" y="2652812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b="1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Curva de aprendizado rápida</a:t>
            </a:r>
            <a:r>
              <a:rPr lang="en-US" sz="120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, permitindo produtividade imediata mesmo para usuários sem experiência prévia.</a:t>
            </a:r>
            <a:endParaRPr lang="en-US" sz="12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263" y="3449389"/>
            <a:ext cx="235639" cy="23564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15895" y="3441601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b="1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Recursos avançados de IA</a:t>
            </a:r>
            <a:r>
              <a:rPr lang="en-US" sz="120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automação de tarefas repetitivas e sugestões de otimização de processos.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263" y="4238179"/>
            <a:ext cx="235639" cy="23564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15895" y="4230390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b="1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Suporte completo e nativo</a:t>
            </a:r>
            <a:r>
              <a:rPr lang="en-US" sz="120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à notação BPMN 2.0, com bibliotecas de formas padronizadas e pré-configuradas.</a:t>
            </a:r>
            <a:endParaRPr lang="en-US" sz="12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263" y="5026968"/>
            <a:ext cx="235639" cy="235645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215895" y="5019179"/>
            <a:ext cx="4644413" cy="4903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b="1" dirty="0"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Interface responsiva</a:t>
            </a:r>
            <a:r>
              <a:rPr lang="en-US" sz="1200" dirty="0">
                <a:latin typeface="Open Sans" pitchFamily="34" charset="0"/>
                <a:ea typeface="Open Sans" pitchFamily="34" charset="-122"/>
                <a:cs typeface="Open Sans" pitchFamily="34" charset="-120"/>
              </a:rPr>
              <a:t> e acessível em diferentes dispositivos e sistemas operacionais.</a:t>
            </a:r>
            <a:endParaRPr lang="en-US" sz="1200" dirty="0"/>
          </a:p>
        </p:txBody>
      </p:sp>
      <p:sp>
        <p:nvSpPr>
          <p:cNvPr id="15" name="Text 8"/>
          <p:cNvSpPr/>
          <p:nvPr/>
        </p:nvSpPr>
        <p:spPr>
          <a:xfrm>
            <a:off x="6293883" y="1444228"/>
            <a:ext cx="5242687" cy="2519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⚠️</a:t>
            </a:r>
            <a:r>
              <a:rPr lang="en-US" sz="15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Pontos Fracos</a:t>
            </a:r>
            <a:endParaRPr lang="en-US" sz="15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2818" y="1871811"/>
            <a:ext cx="235639" cy="235645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804450" y="1864023"/>
            <a:ext cx="2017464" cy="122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Limitações severas</a:t>
            </a:r>
            <a:r>
              <a:rPr lang="en-US" sz="12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na versão gratuita, restringindo uso prolongado sem investimento financeiro.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7375" y="1871811"/>
            <a:ext cx="235639" cy="235645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9519007" y="1864023"/>
            <a:ext cx="2017563" cy="122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Dependência crítica</a:t>
            </a:r>
            <a:r>
              <a:rPr lang="en-US" sz="12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conexão com internet para funcionamento, inviabilizando uso em ambientes offline.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2818" y="3396109"/>
            <a:ext cx="235639" cy="235645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6804450" y="3388320"/>
            <a:ext cx="2017464" cy="1225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Preocupações com segurança</a:t>
            </a:r>
            <a:r>
              <a:rPr lang="en-US" sz="12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dados em ambientes corporativos altamente regulados (ex.: setor financeiro e saúde).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7375" y="3396109"/>
            <a:ext cx="235639" cy="235645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9519007" y="3388320"/>
            <a:ext cx="2017563" cy="980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Custo dos planos pagos</a:t>
            </a:r>
            <a:r>
              <a:rPr lang="en-US" sz="12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pode ser elevado para pequenas organizações com orçamento restrito.</a:t>
            </a:r>
            <a:endParaRPr lang="en-US" sz="1200" dirty="0"/>
          </a:p>
        </p:txBody>
      </p:sp>
      <p:sp>
        <p:nvSpPr>
          <p:cNvPr id="24" name="Shape 13"/>
          <p:cNvSpPr/>
          <p:nvPr/>
        </p:nvSpPr>
        <p:spPr>
          <a:xfrm>
            <a:off x="6293883" y="4782046"/>
            <a:ext cx="5242687" cy="1327745"/>
          </a:xfrm>
          <a:prstGeom prst="roundRect">
            <a:avLst>
              <a:gd name="adj" fmla="val 1775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0943" y="5010745"/>
            <a:ext cx="196349" cy="157063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6804351" y="4955580"/>
            <a:ext cx="4575160" cy="980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Conclusão parcial:</a:t>
            </a:r>
            <a:r>
              <a:rPr lang="en-US" sz="12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Ferramenta robusta com excelente relação custo-benefício para a maioria dos cenários, com ressalvas específicas para contextos offline ou com restrições orçamentárias.</a:t>
            </a:r>
            <a:endParaRPr lang="en-US" sz="1200" dirty="0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21EC7044-9F7A-BA3D-2324-C77B25FAE23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1671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Aplicabilidade e Conclusão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661475" y="1229122"/>
            <a:ext cx="10868745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Lucidchart demonstra </a:t>
            </a:r>
            <a:r>
              <a:rPr lang="en-US" sz="11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versatilidade de aplicação</a:t>
            </a: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em diferentes perfis organizacionais, sendo particularmente eficaz onde a colaboração ágil e a padronização de processos são fatores críticos de sucesso.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61475" y="1817191"/>
            <a:ext cx="5369485" cy="1262856"/>
          </a:xfrm>
          <a:prstGeom prst="roundRect">
            <a:avLst>
              <a:gd name="adj" fmla="val 1740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807918" y="1963638"/>
            <a:ext cx="507659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🚀</a:t>
            </a:r>
            <a:r>
              <a:rPr lang="en-US" sz="14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Startups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7918" y="2270423"/>
            <a:ext cx="5076599" cy="6631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Necessitam de ferramentas </a:t>
            </a:r>
            <a:r>
              <a:rPr lang="en-US" sz="11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ágeis e colaborativas</a:t>
            </a: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com baixo custo inicial — o plano gratuito atende às demandas iniciais de mapeamento de processos.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60735" y="1817191"/>
            <a:ext cx="5369485" cy="1262856"/>
          </a:xfrm>
          <a:prstGeom prst="roundRect">
            <a:avLst>
              <a:gd name="adj" fmla="val 1740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307178" y="1963638"/>
            <a:ext cx="507659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🏪</a:t>
            </a:r>
            <a:r>
              <a:rPr lang="en-US" sz="14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PMEs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07178" y="2270423"/>
            <a:ext cx="5076599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Buscam </a:t>
            </a:r>
            <a:r>
              <a:rPr lang="en-US" sz="11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padronização de processos</a:t>
            </a: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sem investimento em infraestrutura tecnológica complexa ou equipes especializadas de TI.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1475" y="3209826"/>
            <a:ext cx="5369485" cy="1041797"/>
          </a:xfrm>
          <a:prstGeom prst="roundRect">
            <a:avLst>
              <a:gd name="adj" fmla="val 2110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807918" y="3356273"/>
            <a:ext cx="507659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🏢</a:t>
            </a:r>
            <a:r>
              <a:rPr lang="en-US" sz="14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Grandes Corporações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7918" y="3663057"/>
            <a:ext cx="5076599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Requerem </a:t>
            </a:r>
            <a:r>
              <a:rPr lang="en-US" sz="11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colaboração em larga escala</a:t>
            </a: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conformidade com padrões internacionais e integração com sistemas legados existentes.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60735" y="3209826"/>
            <a:ext cx="5369485" cy="1041797"/>
          </a:xfrm>
          <a:prstGeom prst="roundRect">
            <a:avLst>
              <a:gd name="adj" fmla="val 2110"/>
            </a:avLst>
          </a:prstGeom>
          <a:solidFill>
            <a:srgbClr val="EAE8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307178" y="3356273"/>
            <a:ext cx="5076599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🎓</a:t>
            </a:r>
            <a:r>
              <a:rPr lang="en-US" sz="1400" dirty="0">
                <a:solidFill>
                  <a:srgbClr val="49495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Instituições Acadêmicas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7178" y="3663057"/>
            <a:ext cx="5076599" cy="4421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Utilizam para </a:t>
            </a:r>
            <a:r>
              <a:rPr lang="en-US" sz="11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ensino de modelagem</a:t>
            </a:r>
            <a:r>
              <a:rPr lang="en-US" sz="11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processos e pesquisa em otimização e reengenharia de processos organizacionais.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1475" y="4434185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49495A">
              <a:alpha val="50000"/>
            </a:srgbClr>
          </a:solidFill>
          <a:ln/>
        </p:spPr>
        <p:txBody>
          <a:bodyPr/>
          <a:lstStyle/>
          <a:p>
            <a:endParaRPr lang="pt-BR"/>
          </a:p>
        </p:txBody>
      </p:sp>
      <p:grpSp>
        <p:nvGrpSpPr>
          <p:cNvPr id="24" name="Agrupar 23">
            <a:extLst>
              <a:ext uri="{FF2B5EF4-FFF2-40B4-BE49-F238E27FC236}">
                <a16:creationId xmlns:a16="http://schemas.microsoft.com/office/drawing/2014/main" id="{D278435C-79BA-7EFD-5CB8-88B49462B287}"/>
              </a:ext>
            </a:extLst>
          </p:cNvPr>
          <p:cNvGrpSpPr/>
          <p:nvPr/>
        </p:nvGrpSpPr>
        <p:grpSpPr>
          <a:xfrm>
            <a:off x="3151208" y="4635798"/>
            <a:ext cx="5466618" cy="1710531"/>
            <a:chOff x="556008" y="4635798"/>
            <a:chExt cx="5466618" cy="1710531"/>
          </a:xfrm>
        </p:grpSpPr>
        <p:sp>
          <p:nvSpPr>
            <p:cNvPr id="17" name="Shape 15"/>
            <p:cNvSpPr/>
            <p:nvPr/>
          </p:nvSpPr>
          <p:spPr>
            <a:xfrm>
              <a:off x="556008" y="4635798"/>
              <a:ext cx="5466618" cy="1710531"/>
            </a:xfrm>
            <a:prstGeom prst="roundRect">
              <a:avLst>
                <a:gd name="adj" fmla="val 1285"/>
              </a:avLst>
            </a:prstGeom>
            <a:solidFill>
              <a:srgbClr val="EAE8F3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8" name="Text 16"/>
            <p:cNvSpPr/>
            <p:nvPr/>
          </p:nvSpPr>
          <p:spPr>
            <a:xfrm>
              <a:off x="702451" y="4765576"/>
              <a:ext cx="5173732" cy="2288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400" dirty="0">
                  <a:latin typeface="Libre Baskerville" pitchFamily="34" charset="0"/>
                  <a:ea typeface="Libre Baskerville" pitchFamily="34" charset="-122"/>
                  <a:cs typeface="Libre Baskerville" pitchFamily="34" charset="-120"/>
                </a:rPr>
                <a:t>Fator Crítico de Sucesso</a:t>
              </a:r>
              <a:endParaRPr lang="en-US" sz="14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02451" y="5124252"/>
              <a:ext cx="5173732" cy="8842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26000"/>
                </a:lnSpc>
                <a:buNone/>
              </a:pPr>
              <a:r>
                <a:rPr lang="en-US" sz="1150" dirty="0"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A necessidade de </a:t>
              </a:r>
              <a:r>
                <a:rPr lang="en-US" sz="1150" b="1" dirty="0">
                  <a:latin typeface="Open Sans Bold" pitchFamily="34" charset="0"/>
                  <a:ea typeface="Open Sans Bold" pitchFamily="34" charset="-122"/>
                  <a:cs typeface="Open Sans Bold" pitchFamily="34" charset="-120"/>
                </a:rPr>
                <a:t>colaboração ágil</a:t>
              </a:r>
              <a:r>
                <a:rPr lang="en-US" sz="1150" dirty="0">
                  <a:latin typeface="Open Sans" pitchFamily="34" charset="0"/>
                  <a:ea typeface="Open Sans" pitchFamily="34" charset="-122"/>
                  <a:cs typeface="Open Sans" pitchFamily="34" charset="-120"/>
                </a:rPr>
                <a:t> é o principal diferencial do Lucidchart em relação a ferramentas concorrentes, sendo determinante para a escolha da plataforma em contextos onde equipes distribuídas precisam trabalhar de forma sincronizada.</a:t>
              </a:r>
              <a:endParaRPr lang="en-US" sz="1150" dirty="0"/>
            </a:p>
          </p:txBody>
        </p:sp>
      </p:grpSp>
      <p:sp>
        <p:nvSpPr>
          <p:cNvPr id="23" name="Retângulo 22">
            <a:extLst>
              <a:ext uri="{FF2B5EF4-FFF2-40B4-BE49-F238E27FC236}">
                <a16:creationId xmlns:a16="http://schemas.microsoft.com/office/drawing/2014/main" id="{0B3528DF-FAFD-D0D8-E4D2-E81A800E120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28218" y="6502400"/>
            <a:ext cx="1089891" cy="277091"/>
          </a:xfrm>
          <a:prstGeom prst="rect">
            <a:avLst/>
          </a:prstGeom>
          <a:solidFill>
            <a:srgbClr val="FBFAFF"/>
          </a:solidFill>
          <a:ln>
            <a:solidFill>
              <a:srgbClr val="FBFA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1550</Words>
  <Application>Microsoft Office PowerPoint</Application>
  <PresentationFormat>Widescreen</PresentationFormat>
  <Paragraphs>136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Libre Baskerville</vt:lpstr>
      <vt:lpstr>Open Sans</vt:lpstr>
      <vt:lpstr>Open Sans Bold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Gustavo Schopf Anibele</dc:creator>
  <cp:lastModifiedBy>Gustavo Schopf Anibele</cp:lastModifiedBy>
  <cp:revision>2</cp:revision>
  <dcterms:created xsi:type="dcterms:W3CDTF">2026-09-03T20:50:29Z</dcterms:created>
  <dcterms:modified xsi:type="dcterms:W3CDTF">2026-09-03T21:00:00Z</dcterms:modified>
</cp:coreProperties>
</file>